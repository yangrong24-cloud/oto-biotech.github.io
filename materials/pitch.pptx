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9" r:id="rId10"/>
    <p:sldId id="270" r:id="rId11"/>
    <p:sldId id="262" r:id="rId12"/>
    <p:sldId id="263" r:id="rId13"/>
    <p:sldId id="264" r:id="rId14"/>
    <p:sldId id="265" r:id="rId15"/>
    <p:sldId id="266" r:id="rId16"/>
    <p:sldId id="267" r:id="rId17"/>
  </p:sldIdLst>
  <p:sldSz cx="12192000" cy="6858000"/>
  <p:notesSz cx="6858000" cy="9144000"/>
  <p:embeddedFontLst>
    <p:embeddedFont>
      <p:font typeface="Calibri" panose="020F0502020204030204"/>
      <p:regular r:id="rId21"/>
      <p:bold r:id="rId22"/>
      <p:italic r:id="rId23"/>
      <p:boldItalic r:id="rId24"/>
    </p:embeddedFont>
    <p:embeddedFont>
      <p:font typeface="Poppins" panose="00000500000000000000"/>
      <p:regular r:id="rId25"/>
      <p:bold r:id="rId26"/>
      <p:italic r:id="rId27"/>
      <p:boldItalic r:id="rId28"/>
    </p:embeddedFont>
    <p:embeddedFont>
      <p:font typeface="Lato" panose="020F0502020204030203"/>
      <p:regular r:id="rId29"/>
      <p:bold r:id="rId30"/>
      <p:italic r:id="rId31"/>
      <p:boldItalic r:id="rId32"/>
    </p:embeddedFont>
    <p:embeddedFont>
      <p:font typeface="Poppins SemiBold" panose="00000500000000000000"/>
      <p:regular r:id="rId33"/>
      <p:bold r:id="rId34"/>
      <p:italic r:id="rId35"/>
      <p:boldItalic r:id="rId36"/>
    </p:embeddedFont>
  </p:embeddedFontLst>
  <p:custDataLst>
    <p:tags r:id="rId3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926"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92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gs" Target="tags/tag25.xml"/><Relationship Id="rId36" Type="http://schemas.openxmlformats.org/officeDocument/2006/relationships/font" Target="fonts/font16.fntdata"/><Relationship Id="rId35" Type="http://schemas.openxmlformats.org/officeDocument/2006/relationships/font" Target="fonts/font15.fntdata"/><Relationship Id="rId34" Type="http://schemas.openxmlformats.org/officeDocument/2006/relationships/font" Target="fonts/font14.fntdata"/><Relationship Id="rId33" Type="http://schemas.openxmlformats.org/officeDocument/2006/relationships/font" Target="fonts/font13.fntdata"/><Relationship Id="rId32" Type="http://schemas.openxmlformats.org/officeDocument/2006/relationships/font" Target="fonts/font12.fntdata"/><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a:solidFill>
                  <a:schemeClr val="dk1"/>
                </a:solidFill>
              </a:rPr>
              <a:t>“Based on ~12 million annual episodes and ~$4.5B in U.S. healthcare spend, we estimate a U.S. addressable market of approximately </a:t>
            </a:r>
            <a:r>
              <a:rPr lang="en-US" b="1">
                <a:solidFill>
                  <a:schemeClr val="dk1"/>
                </a:solidFill>
              </a:rPr>
              <a:t>$1.5–2.0B per year</a:t>
            </a:r>
            <a:r>
              <a:rPr lang="en-US">
                <a:solidFill>
                  <a:schemeClr val="dk1"/>
                </a:solidFill>
              </a:rPr>
              <a:t>.</a:t>
            </a:r>
            <a:endParaRPr>
              <a:solidFill>
                <a:schemeClr val="dk1"/>
              </a:solidFill>
            </a:endParaRPr>
          </a:p>
          <a:p>
            <a:pPr marL="0" lvl="0" indent="0" algn="l" rtl="0">
              <a:spcBef>
                <a:spcPts val="0"/>
              </a:spcBef>
              <a:spcAft>
                <a:spcPts val="0"/>
              </a:spcAft>
              <a:buNone/>
            </a:pPr>
            <a:r>
              <a:rPr lang="en-US">
                <a:solidFill>
                  <a:schemeClr val="dk1"/>
                </a:solidFill>
              </a:rPr>
              <a:t>Applying conservative regional scaling for incidence and treatment spend, we estimate a </a:t>
            </a:r>
            <a:r>
              <a:rPr lang="en-US" b="1">
                <a:solidFill>
                  <a:schemeClr val="dk1"/>
                </a:solidFill>
              </a:rPr>
              <a:t>global addressable market of approximately $5–6B annually</a:t>
            </a:r>
            <a:r>
              <a:rPr lang="en-US">
                <a:solidFill>
                  <a:schemeClr val="dk1"/>
                </a:solidFill>
              </a:rPr>
              <a:t>.”</a:t>
            </a:r>
            <a:endParaRPr lang="en-US">
              <a:solidFill>
                <a:schemeClr val="dk1"/>
              </a:solidFill>
            </a:endParaRPr>
          </a:p>
        </p:txBody>
      </p:sp>
      <p:sp>
        <p:nvSpPr>
          <p:cNvPr id="91" name="Google Shape;91;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1" name="Google Shape;101;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20% of Watchful wait will heal without treatment, which leaves the 80% exposed to high doses of antibiotics.</a:t>
            </a:r>
            <a:endParaRPr lang="en-US"/>
          </a:p>
        </p:txBody>
      </p:sp>
      <p:sp>
        <p:nvSpPr>
          <p:cNvPr id="118" name="Google Shape;118;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6" name="Shape 156"/>
        <p:cNvGrpSpPr/>
        <p:nvPr/>
      </p:nvGrpSpPr>
      <p:grpSpPr>
        <a:xfrm>
          <a:off x="0" y="0"/>
          <a:ext cx="0" cy="0"/>
          <a:chOff x="0" y="0"/>
          <a:chExt cx="0" cy="0"/>
        </a:xfrm>
      </p:grpSpPr>
      <p:sp>
        <p:nvSpPr>
          <p:cNvPr id="157" name="Google Shape;157;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8" name="Google Shape;158;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171"/>
        <p:cNvGrpSpPr/>
        <p:nvPr/>
      </p:nvGrpSpPr>
      <p:grpSpPr>
        <a:xfrm>
          <a:off x="0" y="0"/>
          <a:ext cx="0" cy="0"/>
          <a:chOff x="0" y="0"/>
          <a:chExt cx="0" cy="0"/>
        </a:xfrm>
      </p:grpSpPr>
      <p:sp>
        <p:nvSpPr>
          <p:cNvPr id="172" name="Google Shape;172;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 are starting at Phase 1b to get immediate human proof-of-cure. Because this is a 505(b)(2) pathway, a successful Phase 1b significantly compresses the remaining clinical timeline, potentially allowing us to jump directly into a registrational program.</a:t>
            </a:r>
            <a:endParaRPr lang="en-US"/>
          </a:p>
        </p:txBody>
      </p:sp>
      <p:sp>
        <p:nvSpPr>
          <p:cNvPr id="173" name="Google Shape;173;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g3b1f7a133d9_0_24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40000"/>
              </a:lnSpc>
              <a:spcBef>
                <a:spcPts val="0"/>
              </a:spcBef>
              <a:spcAft>
                <a:spcPts val="0"/>
              </a:spcAft>
              <a:buClr>
                <a:schemeClr val="dk1"/>
              </a:buClr>
              <a:buFont typeface="Arial" panose="020B0604020202020204"/>
              <a:buNone/>
            </a:pPr>
            <a:r>
              <a:rPr lang="en-US" sz="1500">
                <a:solidFill>
                  <a:srgbClr val="475569"/>
                </a:solidFill>
                <a:latin typeface="Lato" panose="020F0502020204030203"/>
                <a:ea typeface="Lato" panose="020F0502020204030203"/>
                <a:cs typeface="Lato" panose="020F0502020204030203"/>
                <a:sym typeface="Lato" panose="020F0502020204030203"/>
              </a:rPr>
              <a:t>Under a base-case market model assuming 16 million addressable cases annually, $150 per treatment, and 10% U.S. market penetration, the asset supports $240 million in peak U.S. revenue. At a 3× peak-sales multiple, this implies a fully de-risked valuation of ~$720 million. Applying a preclinical-stage risk adjustment of 10%, we derive a conservative current valuation of approximately $70 million for OTO.</a:t>
            </a:r>
            <a:endParaRPr sz="1500">
              <a:solidFill>
                <a:srgbClr val="475569"/>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p>
        </p:txBody>
      </p:sp>
      <p:sp>
        <p:nvSpPr>
          <p:cNvPr id="202" name="Google Shape;202;g3b1f7a133d9_0_24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g3aae53f59ab_0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8" name="Google Shape;228;g3aae53f59ab_0_1: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5" name="Google Shape;245;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3" name="Shape 263"/>
        <p:cNvGrpSpPr/>
        <p:nvPr/>
      </p:nvGrpSpPr>
      <p:grpSpPr>
        <a:xfrm>
          <a:off x="0" y="0"/>
          <a:ext cx="0" cy="0"/>
          <a:chOff x="0" y="0"/>
          <a:chExt cx="0" cy="0"/>
        </a:xfrm>
      </p:grpSpPr>
      <p:sp>
        <p:nvSpPr>
          <p:cNvPr id="264" name="Google Shape;264;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5" name="Google Shape;265;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0" name="Google Shape;290;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8.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notesSlide" Target="../notesSlides/notesSlide5.xml"/><Relationship Id="rId10"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hyperlink" Target="https://www.engineering.cornell.edu/cbe" TargetMode="External"/><Relationship Id="rId2" Type="http://schemas.openxmlformats.org/officeDocument/2006/relationships/image" Target="../media/image9.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image" Target="../media/image11.png"/><Relationship Id="rId11" Type="http://schemas.openxmlformats.org/officeDocument/2006/relationships/notesSlide" Target="../notesSlides/notesSlide7.xml"/><Relationship Id="rId10" Type="http://schemas.openxmlformats.org/officeDocument/2006/relationships/slideLayout" Target="../slideLayouts/slideLayout1.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3.png"/><Relationship Id="rId7" Type="http://schemas.openxmlformats.org/officeDocument/2006/relationships/image" Target="../media/image18.png"/><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0" Type="http://schemas.openxmlformats.org/officeDocument/2006/relationships/notesSlide" Target="../notesSlides/notesSlide9.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xml"/><Relationship Id="rId7" Type="http://schemas.openxmlformats.org/officeDocument/2006/relationships/image" Target="../media/image3.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tags" Target="../tags/tag16.xml"/><Relationship Id="rId7" Type="http://schemas.openxmlformats.org/officeDocument/2006/relationships/image" Target="../media/image30.png"/><Relationship Id="rId6" Type="http://schemas.openxmlformats.org/officeDocument/2006/relationships/tags" Target="../tags/tag15.xml"/><Relationship Id="rId5" Type="http://schemas.openxmlformats.org/officeDocument/2006/relationships/image" Target="../media/image29.png"/><Relationship Id="rId4" Type="http://schemas.openxmlformats.org/officeDocument/2006/relationships/tags" Target="../tags/tag14.xml"/><Relationship Id="rId3" Type="http://schemas.openxmlformats.org/officeDocument/2006/relationships/image" Target="../media/image28.png"/><Relationship Id="rId22" Type="http://schemas.openxmlformats.org/officeDocument/2006/relationships/notesSlide" Target="../notesSlides/notesSlide12.xml"/><Relationship Id="rId21" Type="http://schemas.openxmlformats.org/officeDocument/2006/relationships/slideLayout" Target="../slideLayouts/slideLayout1.xml"/><Relationship Id="rId20" Type="http://schemas.openxmlformats.org/officeDocument/2006/relationships/image" Target="../media/image3.png"/><Relationship Id="rId2" Type="http://schemas.openxmlformats.org/officeDocument/2006/relationships/tags" Target="../tags/tag13.xml"/><Relationship Id="rId19" Type="http://schemas.openxmlformats.org/officeDocument/2006/relationships/tags" Target="../tags/tag24.xml"/><Relationship Id="rId18" Type="http://schemas.openxmlformats.org/officeDocument/2006/relationships/tags" Target="../tags/tag23.xml"/><Relationship Id="rId17" Type="http://schemas.openxmlformats.org/officeDocument/2006/relationships/image" Target="../media/image33.png"/><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image" Target="../media/image32.png"/><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image" Target="../media/image27.png"/></Relationships>
</file>

<file path=ppt/slides/_rels/slide13.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3" Type="http://schemas.openxmlformats.org/officeDocument/2006/relationships/notesSlide" Target="../notesSlides/notesSlide13.xml"/><Relationship Id="rId12" Type="http://schemas.openxmlformats.org/officeDocument/2006/relationships/slideLayout" Target="../slideLayouts/slideLayout1.xml"/><Relationship Id="rId11" Type="http://schemas.openxmlformats.org/officeDocument/2006/relationships/image" Target="../media/image42.png"/><Relationship Id="rId10" Type="http://schemas.openxmlformats.org/officeDocument/2006/relationships/image" Target="../media/image3.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83" name="Shape 83"/>
        <p:cNvGrpSpPr/>
        <p:nvPr/>
      </p:nvGrpSpPr>
      <p:grpSpPr>
        <a:xfrm>
          <a:off x="0" y="0"/>
          <a:ext cx="0" cy="0"/>
          <a:chOff x="0" y="0"/>
          <a:chExt cx="0" cy="0"/>
        </a:xfrm>
      </p:grpSpPr>
      <p:pic>
        <p:nvPicPr>
          <p:cNvPr id="84" name="Google Shape;84;p1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2"/>
          <a:srcRect/>
          <a:stretch>
            <a:fillRect/>
          </a:stretch>
        </p:blipFill>
        <p:spPr>
          <a:xfrm>
            <a:off x="571500" y="571500"/>
            <a:ext cx="11049000" cy="5715000"/>
          </a:xfrm>
          <a:prstGeom prst="rect">
            <a:avLst/>
          </a:prstGeom>
          <a:noFill/>
          <a:ln>
            <a:noFill/>
          </a:ln>
        </p:spPr>
      </p:pic>
      <p:sp>
        <p:nvSpPr>
          <p:cNvPr id="86" name="Google Shape;86;p13"/>
          <p:cNvSpPr txBox="1"/>
          <p:nvPr/>
        </p:nvSpPr>
        <p:spPr>
          <a:xfrm>
            <a:off x="1716405" y="2637790"/>
            <a:ext cx="8896350" cy="11074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a:solidFill>
                  <a:srgbClr val="FFFFFF"/>
                </a:solidFill>
                <a:latin typeface="Poppins" panose="00000500000000000000"/>
                <a:ea typeface="Poppins" panose="00000500000000000000"/>
                <a:cs typeface="Poppins" panose="00000500000000000000"/>
                <a:sym typeface="Poppins" panose="00000500000000000000"/>
              </a:rPr>
              <a:t>Next Generation Non-invasive </a:t>
            </a:r>
            <a:endParaRPr lang="en-US" sz="3600" b="1">
              <a:solidFill>
                <a:srgbClr val="FFFFFF"/>
              </a:solidFill>
              <a:latin typeface="Poppins" panose="00000500000000000000"/>
              <a:ea typeface="Poppins" panose="00000500000000000000"/>
              <a:cs typeface="Poppins" panose="00000500000000000000"/>
              <a:sym typeface="Poppins" panose="00000500000000000000"/>
            </a:endParaRPr>
          </a:p>
          <a:p>
            <a:pPr marL="0" marR="0" lvl="0" indent="0" algn="ctr" rtl="0">
              <a:spcBef>
                <a:spcPts val="0"/>
              </a:spcBef>
              <a:spcAft>
                <a:spcPts val="0"/>
              </a:spcAft>
              <a:buNone/>
            </a:pPr>
            <a:r>
              <a:rPr lang="en-US" sz="3600" b="1">
                <a:solidFill>
                  <a:srgbClr val="FFFFFF"/>
                </a:solidFill>
                <a:latin typeface="Poppins" panose="00000500000000000000"/>
                <a:ea typeface="Poppins" panose="00000500000000000000"/>
                <a:cs typeface="Poppins" panose="00000500000000000000"/>
                <a:sym typeface="Poppins" panose="00000500000000000000"/>
              </a:rPr>
              <a:t>Trans-barrier Drug Delivery Platform</a:t>
            </a:r>
            <a:endParaRPr sz="3600"/>
          </a:p>
        </p:txBody>
      </p:sp>
      <p:sp>
        <p:nvSpPr>
          <p:cNvPr id="87" name="Google Shape;87;p13"/>
          <p:cNvSpPr txBox="1"/>
          <p:nvPr/>
        </p:nvSpPr>
        <p:spPr>
          <a:xfrm>
            <a:off x="3140462" y="1829093"/>
            <a:ext cx="60483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a:solidFill>
                  <a:srgbClr val="F1C232"/>
                </a:solidFill>
                <a:latin typeface="Times New Roman" panose="02020603050405020304"/>
                <a:ea typeface="Times New Roman" panose="02020603050405020304"/>
                <a:cs typeface="Times New Roman" panose="02020603050405020304"/>
                <a:sym typeface="Times New Roman" panose="02020603050405020304"/>
              </a:rPr>
              <a:t>From Barriers Into Gateways</a:t>
            </a:r>
            <a:r>
              <a:rPr lang="en-US" sz="2400" i="0" u="none" strike="noStrike" cap="none">
                <a:solidFill>
                  <a:srgbClr val="00A3AD"/>
                </a:solidFill>
                <a:latin typeface="Times New Roman" panose="02020603050405020304"/>
                <a:ea typeface="Times New Roman" panose="02020603050405020304"/>
                <a:cs typeface="Times New Roman" panose="02020603050405020304"/>
                <a:sym typeface="Times New Roman" panose="02020603050405020304"/>
              </a:rPr>
              <a:t> </a:t>
            </a: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88" name="Google Shape;88;p13" title="letter head.png"/>
          <p:cNvPicPr preferRelativeResize="0"/>
          <p:nvPr/>
        </p:nvPicPr>
        <p:blipFill>
          <a:blip r:embed="rId3"/>
          <a:stretch>
            <a:fillRect/>
          </a:stretch>
        </p:blipFill>
        <p:spPr>
          <a:xfrm>
            <a:off x="4378900" y="4296975"/>
            <a:ext cx="3434100" cy="598500"/>
          </a:xfrm>
          <a:prstGeom prst="roundRect">
            <a:avLst>
              <a:gd name="adj" fmla="val 16667"/>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92" name="Shape 92"/>
        <p:cNvGrpSpPr/>
        <p:nvPr/>
      </p:nvGrpSpPr>
      <p:grpSpPr>
        <a:xfrm>
          <a:off x="0" y="0"/>
          <a:ext cx="0" cy="0"/>
          <a:chOff x="0" y="0"/>
          <a:chExt cx="0" cy="0"/>
        </a:xfrm>
      </p:grpSpPr>
      <p:pic>
        <p:nvPicPr>
          <p:cNvPr id="93" name="Google Shape;93;p14"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94" name="Google Shape;94;p14"/>
          <p:cNvSpPr txBox="1"/>
          <p:nvPr/>
        </p:nvSpPr>
        <p:spPr>
          <a:xfrm>
            <a:off x="2985611" y="2036564"/>
            <a:ext cx="6220777" cy="857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002147"/>
                </a:solidFill>
                <a:latin typeface="Poppins" panose="00000500000000000000"/>
                <a:ea typeface="Poppins" panose="00000500000000000000"/>
                <a:cs typeface="Poppins" panose="00000500000000000000"/>
                <a:sym typeface="Poppins" panose="00000500000000000000"/>
              </a:rPr>
              <a:t>Executive Summary</a:t>
            </a:r>
            <a:endParaRPr lang="en-US" sz="4500"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95" name="Google Shape;95;p14"/>
          <p:cNvSpPr/>
          <p:nvPr/>
        </p:nvSpPr>
        <p:spPr>
          <a:xfrm>
            <a:off x="5619750" y="3179564"/>
            <a:ext cx="952500" cy="76200"/>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6" name="Google Shape;96;p14"/>
          <p:cNvSpPr txBox="1"/>
          <p:nvPr/>
        </p:nvSpPr>
        <p:spPr>
          <a:xfrm>
            <a:off x="2286000" y="4006372"/>
            <a:ext cx="7620000" cy="90360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b="0" i="0" u="none" strike="noStrike" cap="none">
                <a:solidFill>
                  <a:srgbClr val="475569"/>
                </a:solidFill>
                <a:latin typeface="Lato" panose="020F0502020204030203"/>
                <a:ea typeface="Lato" panose="020F0502020204030203"/>
                <a:cs typeface="Lato" panose="020F0502020204030203"/>
                <a:sym typeface="Lato" panose="020F0502020204030203"/>
              </a:rPr>
              <a:t>Disrupting the $</a:t>
            </a:r>
            <a:r>
              <a:rPr lang="en-US" sz="2100">
                <a:solidFill>
                  <a:srgbClr val="475569"/>
                </a:solidFill>
                <a:latin typeface="Lato" panose="020F0502020204030203"/>
                <a:ea typeface="Lato" panose="020F0502020204030203"/>
                <a:cs typeface="Lato" panose="020F0502020204030203"/>
                <a:sym typeface="Lato" panose="020F0502020204030203"/>
              </a:rPr>
              <a:t>6</a:t>
            </a:r>
            <a:r>
              <a:rPr lang="en-US" sz="2100" b="0" i="0" u="none" strike="noStrike" cap="none">
                <a:solidFill>
                  <a:srgbClr val="475569"/>
                </a:solidFill>
                <a:latin typeface="Lato" panose="020F0502020204030203"/>
                <a:ea typeface="Lato" panose="020F0502020204030203"/>
                <a:cs typeface="Lato" panose="020F0502020204030203"/>
                <a:sym typeface="Lato" panose="020F0502020204030203"/>
              </a:rPr>
              <a:t>B global </a:t>
            </a:r>
            <a:r>
              <a:rPr lang="en-US" sz="2100">
                <a:solidFill>
                  <a:srgbClr val="475569"/>
                </a:solidFill>
                <a:latin typeface="Lato" panose="020F0502020204030203"/>
                <a:ea typeface="Lato" panose="020F0502020204030203"/>
                <a:cs typeface="Lato" panose="020F0502020204030203"/>
                <a:sym typeface="Lato" panose="020F0502020204030203"/>
              </a:rPr>
              <a:t>otitis media</a:t>
            </a:r>
            <a:r>
              <a:rPr lang="en-US" sz="2100" b="0" i="0" u="none" strike="noStrike" cap="none">
                <a:solidFill>
                  <a:srgbClr val="475569"/>
                </a:solidFill>
                <a:latin typeface="Lato" panose="020F0502020204030203"/>
                <a:ea typeface="Lato" panose="020F0502020204030203"/>
                <a:cs typeface="Lato" panose="020F0502020204030203"/>
                <a:sym typeface="Lato" panose="020F0502020204030203"/>
              </a:rPr>
              <a:t> market with a proprietary trans-barrier drug de</a:t>
            </a:r>
            <a:r>
              <a:rPr lang="en-US" sz="2100">
                <a:solidFill>
                  <a:srgbClr val="475569"/>
                </a:solidFill>
                <a:latin typeface="Lato" panose="020F0502020204030203"/>
                <a:ea typeface="Lato" panose="020F0502020204030203"/>
                <a:cs typeface="Lato" panose="020F0502020204030203"/>
                <a:sym typeface="Lato" panose="020F0502020204030203"/>
              </a:rPr>
              <a:t>livery </a:t>
            </a:r>
            <a:r>
              <a:rPr lang="en-US" sz="2100" b="0" i="0" u="none" strike="noStrike" cap="none">
                <a:solidFill>
                  <a:srgbClr val="475569"/>
                </a:solidFill>
                <a:latin typeface="Lato" panose="020F0502020204030203"/>
                <a:ea typeface="Lato" panose="020F0502020204030203"/>
                <a:cs typeface="Lato" panose="020F0502020204030203"/>
                <a:sym typeface="Lato" panose="020F0502020204030203"/>
              </a:rPr>
              <a:t>platform of $100</a:t>
            </a:r>
            <a:r>
              <a:rPr lang="en-US" sz="2100">
                <a:solidFill>
                  <a:srgbClr val="475569"/>
                </a:solidFill>
                <a:latin typeface="Lato" panose="020F0502020204030203"/>
                <a:ea typeface="Lato" panose="020F0502020204030203"/>
                <a:cs typeface="Lato" panose="020F0502020204030203"/>
                <a:sym typeface="Lato" panose="020F0502020204030203"/>
              </a:rPr>
              <a:t>B market potential .</a:t>
            </a:r>
            <a:endParaRPr lang="en-US" sz="2100">
              <a:solidFill>
                <a:srgbClr val="475569"/>
              </a:solidFill>
              <a:latin typeface="Lato" panose="020F0502020204030203"/>
              <a:ea typeface="Lato" panose="020F0502020204030203"/>
              <a:cs typeface="Lato" panose="020F0502020204030203"/>
              <a:sym typeface="Lato" panose="020F0502020204030203"/>
            </a:endParaRPr>
          </a:p>
        </p:txBody>
      </p:sp>
      <p:pic>
        <p:nvPicPr>
          <p:cNvPr id="97" name="Google Shape;97;p14" title="letter head.png"/>
          <p:cNvPicPr preferRelativeResize="0"/>
          <p:nvPr/>
        </p:nvPicPr>
        <p:blipFill>
          <a:blip r:embed="rId2"/>
          <a:stretch>
            <a:fillRect/>
          </a:stretch>
        </p:blipFill>
        <p:spPr>
          <a:xfrm>
            <a:off x="9845325" y="0"/>
            <a:ext cx="2346676" cy="408925"/>
          </a:xfrm>
          <a:prstGeom prst="rect">
            <a:avLst/>
          </a:prstGeom>
          <a:noFill/>
          <a:ln>
            <a:noFill/>
          </a:ln>
        </p:spPr>
      </p:pic>
      <p:sp>
        <p:nvSpPr>
          <p:cNvPr id="98" name="Google Shape;98;p14"/>
          <p:cNvSpPr txBox="1"/>
          <p:nvPr/>
        </p:nvSpPr>
        <p:spPr>
          <a:xfrm>
            <a:off x="3852075" y="3264127"/>
            <a:ext cx="4800600" cy="2772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chemeClr val="dk1"/>
                </a:solidFill>
                <a:latin typeface="Lato" panose="020F0502020204030203"/>
                <a:ea typeface="Lato" panose="020F0502020204030203"/>
                <a:cs typeface="Lato" panose="020F0502020204030203"/>
                <a:sym typeface="Lato" panose="020F0502020204030203"/>
              </a:rPr>
              <a:t>One Dose. No Needles. Systemic-Free Recovery.</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02" name="Shape 102"/>
        <p:cNvGrpSpPr/>
        <p:nvPr/>
      </p:nvGrpSpPr>
      <p:grpSpPr>
        <a:xfrm>
          <a:off x="0" y="0"/>
          <a:ext cx="0" cy="0"/>
          <a:chOff x="0" y="0"/>
          <a:chExt cx="0" cy="0"/>
        </a:xfrm>
      </p:grpSpPr>
      <p:pic>
        <p:nvPicPr>
          <p:cNvPr id="103" name="Google Shape;103;p15" descr="image.png"/>
          <p:cNvPicPr preferRelativeResize="0"/>
          <p:nvPr/>
        </p:nvPicPr>
        <p:blipFill rotWithShape="1">
          <a:blip r:embed="rId1"/>
          <a:srcRect/>
          <a:stretch>
            <a:fillRect/>
          </a:stretch>
        </p:blipFill>
        <p:spPr>
          <a:xfrm>
            <a:off x="0" y="0"/>
            <a:ext cx="12045950" cy="6858000"/>
          </a:xfrm>
          <a:prstGeom prst="rect">
            <a:avLst/>
          </a:prstGeom>
          <a:noFill/>
          <a:ln>
            <a:noFill/>
          </a:ln>
        </p:spPr>
      </p:pic>
      <p:sp>
        <p:nvSpPr>
          <p:cNvPr id="105" name="Google Shape;105;p15"/>
          <p:cNvSpPr txBox="1"/>
          <p:nvPr/>
        </p:nvSpPr>
        <p:spPr>
          <a:xfrm>
            <a:off x="5953125" y="2667000"/>
            <a:ext cx="614076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rPr>
              <a:t>Market Opportunity</a:t>
            </a:r>
            <a:endPar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endParaRPr>
          </a:p>
        </p:txBody>
      </p:sp>
      <p:sp>
        <p:nvSpPr>
          <p:cNvPr id="106" name="Google Shape;106;p15"/>
          <p:cNvSpPr txBox="1"/>
          <p:nvPr/>
        </p:nvSpPr>
        <p:spPr>
          <a:xfrm>
            <a:off x="5953125" y="3190875"/>
            <a:ext cx="5848500" cy="120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Otitis Media (OM) is the leading cause of antibiotic prescription and surgical intervention in children globally. Despite the massive scale, no innovation has addressed the "impermeable" intact eardrum barrier in decades.</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07" name="Google Shape;107;p15"/>
          <p:cNvSpPr txBox="1"/>
          <p:nvPr/>
        </p:nvSpPr>
        <p:spPr>
          <a:xfrm>
            <a:off x="5953125" y="4448175"/>
            <a:ext cx="584835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002147"/>
                </a:solidFill>
                <a:latin typeface="Lato" panose="020F0502020204030203"/>
                <a:ea typeface="Lato" panose="020F0502020204030203"/>
                <a:cs typeface="Lato" panose="020F0502020204030203"/>
                <a:sym typeface="Lato" panose="020F0502020204030203"/>
              </a:rPr>
              <a:t>A premium, single-dose topical solution represents a blue ocean opportunity for pediatricians and parents alike.</a:t>
            </a:r>
            <a:endParaRPr lang="en-US" sz="1500" b="1" i="0" u="none" strike="noStrike" cap="none">
              <a:solidFill>
                <a:srgbClr val="002147"/>
              </a:solidFill>
              <a:latin typeface="Lato" panose="020F0502020204030203"/>
              <a:ea typeface="Lato" panose="020F0502020204030203"/>
              <a:cs typeface="Lato" panose="020F0502020204030203"/>
              <a:sym typeface="Lato" panose="020F0502020204030203"/>
            </a:endParaRPr>
          </a:p>
        </p:txBody>
      </p:sp>
      <p:sp>
        <p:nvSpPr>
          <p:cNvPr id="108" name="Google Shape;108;p15"/>
          <p:cNvSpPr txBox="1"/>
          <p:nvPr/>
        </p:nvSpPr>
        <p:spPr>
          <a:xfrm>
            <a:off x="762000" y="2119312"/>
            <a:ext cx="4038600" cy="1385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9000" b="1" i="0" u="none" strike="noStrike" cap="none">
                <a:solidFill>
                  <a:srgbClr val="00A3AD"/>
                </a:solidFill>
                <a:latin typeface="Poppins" panose="00000500000000000000"/>
                <a:ea typeface="Poppins" panose="00000500000000000000"/>
                <a:cs typeface="Poppins" panose="00000500000000000000"/>
                <a:sym typeface="Poppins" panose="00000500000000000000"/>
              </a:rPr>
              <a:t>1</a:t>
            </a:r>
            <a:r>
              <a:rPr lang="en-US" sz="9000" b="1">
                <a:solidFill>
                  <a:srgbClr val="00A3AD"/>
                </a:solidFill>
                <a:latin typeface="Poppins" panose="00000500000000000000"/>
                <a:ea typeface="Poppins" panose="00000500000000000000"/>
                <a:cs typeface="Poppins" panose="00000500000000000000"/>
                <a:sym typeface="Poppins" panose="00000500000000000000"/>
              </a:rPr>
              <a:t>6</a:t>
            </a:r>
            <a:r>
              <a:rPr lang="en-US" sz="9000" b="1" i="0" u="none" strike="noStrike" cap="none">
                <a:solidFill>
                  <a:srgbClr val="00A3AD"/>
                </a:solidFill>
                <a:latin typeface="Poppins" panose="00000500000000000000"/>
                <a:ea typeface="Poppins" panose="00000500000000000000"/>
                <a:cs typeface="Poppins" panose="00000500000000000000"/>
                <a:sym typeface="Poppins" panose="00000500000000000000"/>
              </a:rPr>
              <a:t>M+</a:t>
            </a:r>
            <a:endParaRPr lang="en-US" sz="9000" b="1" i="0" u="none" strike="noStrike" cap="none">
              <a:solidFill>
                <a:srgbClr val="00A3AD"/>
              </a:solidFill>
              <a:latin typeface="Poppins" panose="00000500000000000000"/>
              <a:ea typeface="Poppins" panose="00000500000000000000"/>
              <a:cs typeface="Poppins" panose="00000500000000000000"/>
              <a:sym typeface="Poppins" panose="00000500000000000000"/>
            </a:endParaRPr>
          </a:p>
        </p:txBody>
      </p:sp>
      <p:sp>
        <p:nvSpPr>
          <p:cNvPr id="109" name="Google Shape;109;p15"/>
          <p:cNvSpPr txBox="1"/>
          <p:nvPr/>
        </p:nvSpPr>
        <p:spPr>
          <a:xfrm>
            <a:off x="762000" y="3262312"/>
            <a:ext cx="403860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002147"/>
                </a:solidFill>
                <a:latin typeface="Lato" panose="020F0502020204030203"/>
                <a:ea typeface="Lato" panose="020F0502020204030203"/>
                <a:cs typeface="Lato" panose="020F0502020204030203"/>
                <a:sym typeface="Lato" panose="020F0502020204030203"/>
              </a:rPr>
              <a:t>ANNUAL U.S. CASES</a:t>
            </a:r>
            <a:endParaRPr lang="en-US" sz="1800" b="0" i="0" u="none" strike="noStrike" cap="none">
              <a:solidFill>
                <a:srgbClr val="002147"/>
              </a:solidFill>
              <a:latin typeface="Lato" panose="020F0502020204030203"/>
              <a:ea typeface="Lato" panose="020F0502020204030203"/>
              <a:cs typeface="Lato" panose="020F0502020204030203"/>
              <a:sym typeface="Lato" panose="020F0502020204030203"/>
            </a:endParaRPr>
          </a:p>
        </p:txBody>
      </p:sp>
      <p:sp>
        <p:nvSpPr>
          <p:cNvPr id="110" name="Google Shape;110;p15"/>
          <p:cNvSpPr txBox="1"/>
          <p:nvPr/>
        </p:nvSpPr>
        <p:spPr>
          <a:xfrm>
            <a:off x="762000" y="4300537"/>
            <a:ext cx="4038600" cy="1143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9000" b="1" i="0" u="none" strike="noStrike" cap="none">
                <a:solidFill>
                  <a:srgbClr val="00A3AD"/>
                </a:solidFill>
                <a:latin typeface="Poppins" panose="00000500000000000000"/>
                <a:ea typeface="Poppins" panose="00000500000000000000"/>
                <a:cs typeface="Poppins" panose="00000500000000000000"/>
                <a:sym typeface="Poppins" panose="00000500000000000000"/>
              </a:rPr>
              <a:t>Zero</a:t>
            </a:r>
            <a:endParaRPr lang="en-US" sz="9000" b="1" i="0" u="none" strike="noStrike" cap="none">
              <a:solidFill>
                <a:srgbClr val="00A3AD"/>
              </a:solidFill>
              <a:latin typeface="Poppins" panose="00000500000000000000"/>
              <a:ea typeface="Poppins" panose="00000500000000000000"/>
              <a:cs typeface="Poppins" panose="00000500000000000000"/>
              <a:sym typeface="Poppins" panose="00000500000000000000"/>
            </a:endParaRPr>
          </a:p>
        </p:txBody>
      </p:sp>
      <p:sp>
        <p:nvSpPr>
          <p:cNvPr id="111" name="Google Shape;111;p15"/>
          <p:cNvSpPr txBox="1"/>
          <p:nvPr/>
        </p:nvSpPr>
        <p:spPr>
          <a:xfrm>
            <a:off x="762000" y="5443537"/>
            <a:ext cx="403860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002147"/>
                </a:solidFill>
                <a:latin typeface="Lato" panose="020F0502020204030203"/>
                <a:ea typeface="Lato" panose="020F0502020204030203"/>
                <a:cs typeface="Lato" panose="020F0502020204030203"/>
                <a:sym typeface="Lato" panose="020F0502020204030203"/>
              </a:rPr>
              <a:t>APPROVED TOPICAL OPTIONS</a:t>
            </a:r>
            <a:endParaRPr lang="en-US" sz="1800" b="0" i="0" u="none" strike="noStrike" cap="none">
              <a:solidFill>
                <a:srgbClr val="002147"/>
              </a:solidFill>
              <a:latin typeface="Lato" panose="020F0502020204030203"/>
              <a:ea typeface="Lato" panose="020F0502020204030203"/>
              <a:cs typeface="Lato" panose="020F0502020204030203"/>
              <a:sym typeface="Lato" panose="020F0502020204030203"/>
            </a:endParaRPr>
          </a:p>
        </p:txBody>
      </p:sp>
      <p:sp>
        <p:nvSpPr>
          <p:cNvPr id="112" name="Google Shape;112;p15"/>
          <p:cNvSpPr txBox="1"/>
          <p:nvPr/>
        </p:nvSpPr>
        <p:spPr>
          <a:xfrm>
            <a:off x="762000" y="571500"/>
            <a:ext cx="114015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The Massive $</a:t>
            </a:r>
            <a:r>
              <a:rPr lang="en-US" sz="3150" b="1">
                <a:solidFill>
                  <a:srgbClr val="002147"/>
                </a:solidFill>
                <a:latin typeface="Poppins" panose="00000500000000000000"/>
                <a:ea typeface="Poppins" panose="00000500000000000000"/>
                <a:cs typeface="Poppins" panose="00000500000000000000"/>
                <a:sym typeface="Poppins" panose="00000500000000000000"/>
              </a:rPr>
              <a:t>4</a:t>
            </a: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a:t>
            </a:r>
            <a:r>
              <a:rPr lang="en-US" sz="3150" b="1">
                <a:solidFill>
                  <a:srgbClr val="002147"/>
                </a:solidFill>
                <a:latin typeface="Poppins" panose="00000500000000000000"/>
                <a:ea typeface="Poppins" panose="00000500000000000000"/>
                <a:cs typeface="Poppins" panose="00000500000000000000"/>
                <a:sym typeface="Poppins" panose="00000500000000000000"/>
              </a:rPr>
              <a:t>6</a:t>
            </a: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B Healthcare Gap</a:t>
            </a:r>
            <a:r>
              <a:rPr lang="en-US" sz="3150" b="1">
                <a:solidFill>
                  <a:srgbClr val="002147"/>
                </a:solidFill>
                <a:latin typeface="Poppins" panose="00000500000000000000"/>
                <a:ea typeface="Poppins" panose="00000500000000000000"/>
                <a:cs typeface="Poppins" panose="00000500000000000000"/>
                <a:sym typeface="Poppins" panose="00000500000000000000"/>
              </a:rPr>
              <a:t> in U.S.</a:t>
            </a:r>
            <a:endParaRPr lang="en-US" sz="3150" b="1">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113" name="Google Shape;113;p15"/>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14" name="Google Shape;114;p15" title="letter head.png"/>
          <p:cNvPicPr preferRelativeResize="0"/>
          <p:nvPr/>
        </p:nvPicPr>
        <p:blipFill>
          <a:blip r:embed="rId2"/>
          <a:stretch>
            <a:fillRect/>
          </a:stretch>
        </p:blipFill>
        <p:spPr>
          <a:xfrm>
            <a:off x="9845325" y="0"/>
            <a:ext cx="2346676" cy="408925"/>
          </a:xfrm>
          <a:prstGeom prst="rect">
            <a:avLst/>
          </a:prstGeom>
          <a:noFill/>
          <a:ln>
            <a:noFill/>
          </a:ln>
        </p:spPr>
      </p:pic>
      <p:sp>
        <p:nvSpPr>
          <p:cNvPr id="115" name="Google Shape;115;p15"/>
          <p:cNvSpPr txBox="1"/>
          <p:nvPr/>
        </p:nvSpPr>
        <p:spPr>
          <a:xfrm>
            <a:off x="7295700" y="6429375"/>
            <a:ext cx="48678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00">
                <a:solidFill>
                  <a:schemeClr val="dk1"/>
                </a:solidFill>
              </a:rPr>
              <a:t>source: https://pubmed.ncbi.nlm.nih.gov/37098521/</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19" name="Shape 119"/>
        <p:cNvGrpSpPr/>
        <p:nvPr/>
      </p:nvGrpSpPr>
      <p:grpSpPr>
        <a:xfrm>
          <a:off x="0" y="0"/>
          <a:ext cx="0" cy="0"/>
          <a:chOff x="0" y="0"/>
          <a:chExt cx="0" cy="0"/>
        </a:xfrm>
      </p:grpSpPr>
      <p:pic>
        <p:nvPicPr>
          <p:cNvPr id="120" name="Google Shape;120;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21" name="Google Shape;121;p16" descr="image.png"/>
          <p:cNvPicPr preferRelativeResize="0"/>
          <p:nvPr/>
        </p:nvPicPr>
        <p:blipFill rotWithShape="1">
          <a:blip r:embed="rId2"/>
          <a:srcRect/>
          <a:stretch>
            <a:fillRect/>
          </a:stretch>
        </p:blipFill>
        <p:spPr>
          <a:xfrm>
            <a:off x="571500" y="2266950"/>
            <a:ext cx="5238750" cy="3305175"/>
          </a:xfrm>
          <a:prstGeom prst="rect">
            <a:avLst/>
          </a:prstGeom>
          <a:noFill/>
          <a:ln>
            <a:noFill/>
          </a:ln>
        </p:spPr>
      </p:pic>
      <p:pic>
        <p:nvPicPr>
          <p:cNvPr id="122" name="Google Shape;122;p16" descr="image.png"/>
          <p:cNvPicPr preferRelativeResize="0"/>
          <p:nvPr/>
        </p:nvPicPr>
        <p:blipFill rotWithShape="1">
          <a:blip r:embed="rId3"/>
          <a:srcRect/>
          <a:stretch>
            <a:fillRect/>
          </a:stretch>
        </p:blipFill>
        <p:spPr>
          <a:xfrm>
            <a:off x="6381750" y="2266950"/>
            <a:ext cx="5238750" cy="3305175"/>
          </a:xfrm>
          <a:prstGeom prst="rect">
            <a:avLst/>
          </a:prstGeom>
          <a:noFill/>
          <a:ln>
            <a:noFill/>
          </a:ln>
        </p:spPr>
      </p:pic>
      <p:sp>
        <p:nvSpPr>
          <p:cNvPr id="123" name="Google Shape;123;p16"/>
          <p:cNvSpPr txBox="1"/>
          <p:nvPr/>
        </p:nvSpPr>
        <p:spPr>
          <a:xfrm>
            <a:off x="962025" y="2657475"/>
            <a:ext cx="46806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rPr>
              <a:t>The Systemic Burden</a:t>
            </a:r>
            <a:endPar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endParaRPr>
          </a:p>
        </p:txBody>
      </p:sp>
      <p:sp>
        <p:nvSpPr>
          <p:cNvPr id="124" name="Google Shape;124;p16"/>
          <p:cNvSpPr txBox="1"/>
          <p:nvPr/>
        </p:nvSpPr>
        <p:spPr>
          <a:xfrm>
            <a:off x="6756088" y="2657475"/>
            <a:ext cx="46806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rPr>
              <a:t>The Compliance Gap</a:t>
            </a:r>
            <a:endPar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endParaRPr>
          </a:p>
        </p:txBody>
      </p:sp>
      <p:sp>
        <p:nvSpPr>
          <p:cNvPr id="125" name="Google Shape;125;p16"/>
          <p:cNvSpPr txBox="1"/>
          <p:nvPr/>
        </p:nvSpPr>
        <p:spPr>
          <a:xfrm>
            <a:off x="1038225" y="3143250"/>
            <a:ext cx="1143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26" name="Google Shape;126;p16"/>
          <p:cNvSpPr txBox="1"/>
          <p:nvPr/>
        </p:nvSpPr>
        <p:spPr>
          <a:xfrm>
            <a:off x="1152525" y="3143250"/>
            <a:ext cx="4267200" cy="533400"/>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Standard of care: 10 days of high-dose oral antibiotics.</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27" name="Google Shape;127;p16"/>
          <p:cNvSpPr txBox="1"/>
          <p:nvPr/>
        </p:nvSpPr>
        <p:spPr>
          <a:xfrm>
            <a:off x="1038225" y="3819525"/>
            <a:ext cx="1143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28" name="Google Shape;128;p16"/>
          <p:cNvSpPr txBox="1"/>
          <p:nvPr/>
        </p:nvSpPr>
        <p:spPr>
          <a:xfrm>
            <a:off x="1152525" y="3819525"/>
            <a:ext cx="4267200" cy="533400"/>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Causes severe gut microbiome disruption and systemic toxicity.</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29" name="Google Shape;129;p16"/>
          <p:cNvSpPr txBox="1"/>
          <p:nvPr/>
        </p:nvSpPr>
        <p:spPr>
          <a:xfrm>
            <a:off x="1038225" y="4495800"/>
            <a:ext cx="1143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30" name="Google Shape;130;p16"/>
          <p:cNvSpPr txBox="1"/>
          <p:nvPr/>
        </p:nvSpPr>
        <p:spPr>
          <a:xfrm>
            <a:off x="1152525" y="4495800"/>
            <a:ext cx="4267200" cy="554100"/>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Significant contribution to antibiotic resistance</a:t>
            </a:r>
            <a:r>
              <a:rPr lang="en-US" sz="1500">
                <a:solidFill>
                  <a:srgbClr val="475569"/>
                </a:solidFill>
                <a:latin typeface="Lato" panose="020F0502020204030203"/>
                <a:ea typeface="Lato" panose="020F0502020204030203"/>
                <a:cs typeface="Lato" panose="020F0502020204030203"/>
                <a:sym typeface="Lato" panose="020F0502020204030203"/>
              </a:rPr>
              <a:t> and long term development concern for children</a:t>
            </a:r>
            <a:endParaRPr sz="2000" b="1"/>
          </a:p>
        </p:txBody>
      </p:sp>
      <p:sp>
        <p:nvSpPr>
          <p:cNvPr id="131" name="Google Shape;131;p16"/>
          <p:cNvSpPr txBox="1"/>
          <p:nvPr/>
        </p:nvSpPr>
        <p:spPr>
          <a:xfrm>
            <a:off x="6848475" y="3101019"/>
            <a:ext cx="1143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32" name="Google Shape;132;p16"/>
          <p:cNvSpPr txBox="1"/>
          <p:nvPr/>
        </p:nvSpPr>
        <p:spPr>
          <a:xfrm>
            <a:off x="6962775" y="3101019"/>
            <a:ext cx="4267200" cy="554100"/>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Parental non-compliance exceeds 50% in long-term regimens.</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33" name="Google Shape;133;p16"/>
          <p:cNvSpPr txBox="1"/>
          <p:nvPr/>
        </p:nvSpPr>
        <p:spPr>
          <a:xfrm>
            <a:off x="6848475" y="3808279"/>
            <a:ext cx="1143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34" name="Google Shape;134;p16"/>
          <p:cNvSpPr txBox="1"/>
          <p:nvPr/>
        </p:nvSpPr>
        <p:spPr>
          <a:xfrm>
            <a:off x="6962775" y="3808279"/>
            <a:ext cx="4267200" cy="231000"/>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Incomplete therapy leads to chronic recurrence.</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35" name="Google Shape;135;p16"/>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The Failures of the Status Quo</a:t>
            </a:r>
            <a:endPar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136" name="Google Shape;136;p16"/>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7" name="Google Shape;137;p16"/>
          <p:cNvSpPr txBox="1"/>
          <p:nvPr/>
        </p:nvSpPr>
        <p:spPr>
          <a:xfrm>
            <a:off x="6965315" y="4427220"/>
            <a:ext cx="4529455" cy="645795"/>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a:solidFill>
                  <a:srgbClr val="475569"/>
                </a:solidFill>
                <a:latin typeface="Lato" panose="020F0502020204030203"/>
                <a:ea typeface="Lato" panose="020F0502020204030203"/>
                <a:cs typeface="Lato" panose="020F0502020204030203"/>
                <a:sym typeface="Lato" panose="020F0502020204030203"/>
              </a:rPr>
              <a:t>Difficult for children to tolerate, disrupts family routines, and places significant stress on caregivers</a:t>
            </a:r>
            <a:endParaRPr lang="en-US" sz="1500">
              <a:solidFill>
                <a:srgbClr val="475569"/>
              </a:solidFill>
              <a:latin typeface="Lato" panose="020F0502020204030203"/>
              <a:ea typeface="Lato" panose="020F0502020204030203"/>
              <a:cs typeface="Lato" panose="020F0502020204030203"/>
              <a:sym typeface="Lato" panose="020F0502020204030203"/>
            </a:endParaRPr>
          </a:p>
        </p:txBody>
      </p:sp>
      <p:sp>
        <p:nvSpPr>
          <p:cNvPr id="138" name="Google Shape;138;p16"/>
          <p:cNvSpPr txBox="1"/>
          <p:nvPr/>
        </p:nvSpPr>
        <p:spPr>
          <a:xfrm>
            <a:off x="6848475" y="4420580"/>
            <a:ext cx="1143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139" name="Google Shape;139;p16" title="letter head.png"/>
          <p:cNvPicPr preferRelativeResize="0"/>
          <p:nvPr/>
        </p:nvPicPr>
        <p:blipFill>
          <a:blip r:embed="rId4"/>
          <a:stretch>
            <a:fillRect/>
          </a:stretch>
        </p:blipFill>
        <p:spPr>
          <a:xfrm>
            <a:off x="9845325" y="0"/>
            <a:ext cx="2346676" cy="408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43" name="Shape 143"/>
        <p:cNvGrpSpPr/>
        <p:nvPr/>
      </p:nvGrpSpPr>
      <p:grpSpPr>
        <a:xfrm>
          <a:off x="0" y="0"/>
          <a:ext cx="0" cy="0"/>
          <a:chOff x="0" y="0"/>
          <a:chExt cx="0" cy="0"/>
        </a:xfrm>
      </p:grpSpPr>
      <p:pic>
        <p:nvPicPr>
          <p:cNvPr id="144" name="Google Shape;144;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45" name="Google Shape;145;p17"/>
          <p:cNvSpPr txBox="1"/>
          <p:nvPr>
            <p:custDataLst>
              <p:tags r:id="rId2"/>
            </p:custDataLst>
          </p:nvPr>
        </p:nvSpPr>
        <p:spPr>
          <a:xfrm>
            <a:off x="647700" y="3217225"/>
            <a:ext cx="1143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46" name="Google Shape;146;p17"/>
          <p:cNvSpPr txBox="1"/>
          <p:nvPr>
            <p:custDataLst>
              <p:tags r:id="rId3"/>
            </p:custDataLst>
          </p:nvPr>
        </p:nvSpPr>
        <p:spPr>
          <a:xfrm>
            <a:off x="647700" y="4284315"/>
            <a:ext cx="1143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47" name="Google Shape;147;p17"/>
          <p:cNvSpPr txBox="1"/>
          <p:nvPr>
            <p:custDataLst>
              <p:tags r:id="rId4"/>
            </p:custDataLst>
          </p:nvPr>
        </p:nvSpPr>
        <p:spPr>
          <a:xfrm>
            <a:off x="647700" y="5428215"/>
            <a:ext cx="1143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48" name="Google Shape;148;p17"/>
          <p:cNvSpPr txBox="1"/>
          <p:nvPr>
            <p:custDataLst>
              <p:tags r:id="rId5"/>
            </p:custDataLst>
          </p:nvPr>
        </p:nvSpPr>
        <p:spPr>
          <a:xfrm>
            <a:off x="762000" y="5125320"/>
            <a:ext cx="6517200" cy="231000"/>
          </a:xfrm>
          <a:prstGeom prst="rect">
            <a:avLst/>
          </a:prstGeom>
          <a:noFill/>
          <a:ln>
            <a:noFill/>
          </a:ln>
        </p:spPr>
        <p:txBody>
          <a:bodyPr spcFirstLastPara="1" wrap="square" lIns="114300" tIns="0" rIns="0" bIns="0" anchor="t" anchorCtr="0">
            <a:noAutofit/>
          </a:bodyPr>
          <a:lstStyle/>
          <a:p>
            <a:pPr marL="0" marR="0" lvl="0" indent="0" algn="l" rtl="0">
              <a:lnSpc>
                <a:spcPct val="200000"/>
              </a:lnSpc>
              <a:spcBef>
                <a:spcPts val="0"/>
              </a:spcBef>
              <a:spcAft>
                <a:spcPts val="0"/>
              </a:spcAft>
              <a:buNone/>
            </a:pPr>
            <a:r>
              <a:rPr lang="en-US" sz="1500" b="1" i="0" u="none" strike="noStrike" cap="none">
                <a:solidFill>
                  <a:srgbClr val="475569"/>
                </a:solidFill>
                <a:latin typeface="Lato" panose="020F0502020204030203"/>
                <a:ea typeface="Lato" panose="020F0502020204030203"/>
                <a:cs typeface="Lato" panose="020F0502020204030203"/>
                <a:sym typeface="Lato" panose="020F0502020204030203"/>
              </a:rPr>
              <a:t>Comfort &amp; </a:t>
            </a:r>
            <a:r>
              <a:rPr lang="en-US" sz="1500" b="1" i="0" u="none" strike="noStrike" cap="none">
                <a:solidFill>
                  <a:srgbClr val="475569"/>
                </a:solidFill>
                <a:latin typeface="Lato" panose="020F0502020204030203"/>
                <a:ea typeface="Lato" panose="020F0502020204030203"/>
                <a:cs typeface="Lato" panose="020F0502020204030203"/>
                <a:sym typeface="Lato" panose="020F0502020204030203"/>
              </a:rPr>
              <a:t>Saf</a:t>
            </a:r>
            <a:r>
              <a:rPr lang="en-US" sz="1500" b="1">
                <a:solidFill>
                  <a:srgbClr val="475569"/>
                </a:solidFill>
                <a:latin typeface="Lato" panose="020F0502020204030203"/>
                <a:ea typeface="Lato" panose="020F0502020204030203"/>
                <a:cs typeface="Lato" panose="020F0502020204030203"/>
                <a:sym typeface="Lato" panose="020F0502020204030203"/>
              </a:rPr>
              <a:t>ety</a:t>
            </a:r>
            <a:r>
              <a:rPr lang="en-US" sz="1500" b="1" i="0" u="none" strike="noStrike" cap="none">
                <a:solidFill>
                  <a:srgbClr val="475569"/>
                </a:solidFill>
                <a:latin typeface="Lato" panose="020F0502020204030203"/>
                <a:ea typeface="Lato" panose="020F0502020204030203"/>
                <a:cs typeface="Lato" panose="020F0502020204030203"/>
                <a:sym typeface="Lato" panose="020F0502020204030203"/>
              </a:rPr>
              <a:t>:</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 Painless application with </a:t>
            </a:r>
            <a:r>
              <a:rPr lang="en-US" sz="2000" b="1" i="0" u="none" strike="noStrike" cap="none">
                <a:solidFill>
                  <a:srgbClr val="475569"/>
                </a:solidFill>
                <a:latin typeface="Lato" panose="020F0502020204030203"/>
                <a:ea typeface="Lato" panose="020F0502020204030203"/>
                <a:cs typeface="Lato" panose="020F0502020204030203"/>
                <a:sym typeface="Lato" panose="020F0502020204030203"/>
              </a:rPr>
              <a:t>no</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 systemic exposure.</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149" name="Google Shape;149;p17"/>
          <p:cNvPicPr preferRelativeResize="0"/>
          <p:nvPr/>
        </p:nvPicPr>
        <p:blipFill>
          <a:blip r:embed="rId6"/>
          <a:stretch>
            <a:fillRect/>
          </a:stretch>
        </p:blipFill>
        <p:spPr>
          <a:xfrm>
            <a:off x="7001126" y="1886288"/>
            <a:ext cx="4844401" cy="3959726"/>
          </a:xfrm>
          <a:prstGeom prst="rect">
            <a:avLst/>
          </a:prstGeom>
          <a:noFill/>
          <a:ln>
            <a:noFill/>
          </a:ln>
        </p:spPr>
      </p:pic>
      <p:sp>
        <p:nvSpPr>
          <p:cNvPr id="150" name="Google Shape;150;p17"/>
          <p:cNvSpPr txBox="1"/>
          <p:nvPr/>
        </p:nvSpPr>
        <p:spPr>
          <a:xfrm>
            <a:off x="762000" y="571500"/>
            <a:ext cx="114015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a:solidFill>
                  <a:srgbClr val="002147"/>
                </a:solidFill>
                <a:latin typeface="Poppins" panose="00000500000000000000"/>
                <a:ea typeface="Poppins" panose="00000500000000000000"/>
                <a:cs typeface="Poppins" panose="00000500000000000000"/>
                <a:sym typeface="Poppins" panose="00000500000000000000"/>
              </a:rPr>
              <a:t>Our </a:t>
            </a: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Breakthrough </a:t>
            </a:r>
            <a:r>
              <a:rPr lang="en-US" sz="3150" b="1">
                <a:solidFill>
                  <a:srgbClr val="002147"/>
                </a:solidFill>
                <a:latin typeface="Poppins" panose="00000500000000000000"/>
                <a:ea typeface="Poppins" panose="00000500000000000000"/>
                <a:cs typeface="Poppins" panose="00000500000000000000"/>
                <a:sym typeface="Poppins" panose="00000500000000000000"/>
              </a:rPr>
              <a:t>Transtympanic</a:t>
            </a: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 Delivery</a:t>
            </a:r>
            <a:endPar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151" name="Google Shape;151;p17"/>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2" name="Google Shape;152;p17"/>
          <p:cNvSpPr txBox="1"/>
          <p:nvPr>
            <p:custDataLst>
              <p:tags r:id="rId7"/>
            </p:custDataLst>
          </p:nvPr>
        </p:nvSpPr>
        <p:spPr>
          <a:xfrm>
            <a:off x="762000" y="3992850"/>
            <a:ext cx="6853200" cy="307800"/>
          </a:xfrm>
          <a:prstGeom prst="rect">
            <a:avLst/>
          </a:prstGeom>
          <a:noFill/>
          <a:ln>
            <a:noFill/>
          </a:ln>
        </p:spPr>
        <p:txBody>
          <a:bodyPr spcFirstLastPara="1" wrap="square" lIns="114300" tIns="0" rIns="0" bIns="0" anchor="t" anchorCtr="0">
            <a:noAutofit/>
          </a:bodyPr>
          <a:lstStyle/>
          <a:p>
            <a:pPr marL="0" marR="0" lvl="0" indent="0" algn="l" rtl="0">
              <a:lnSpc>
                <a:spcPct val="200000"/>
              </a:lnSpc>
              <a:spcBef>
                <a:spcPts val="0"/>
              </a:spcBef>
              <a:spcAft>
                <a:spcPts val="0"/>
              </a:spcAft>
              <a:buNone/>
            </a:pPr>
            <a:r>
              <a:rPr lang="en-US" sz="1500" b="1">
                <a:solidFill>
                  <a:srgbClr val="475569"/>
                </a:solidFill>
                <a:latin typeface="Lato" panose="020F0502020204030203"/>
                <a:ea typeface="Lato" panose="020F0502020204030203"/>
                <a:cs typeface="Lato" panose="020F0502020204030203"/>
                <a:sym typeface="Lato" panose="020F0502020204030203"/>
              </a:rPr>
              <a:t>Efficacy</a:t>
            </a:r>
            <a:r>
              <a:rPr lang="en-US" sz="1500" b="1" i="0" u="none" strike="noStrike" cap="none">
                <a:solidFill>
                  <a:srgbClr val="475569"/>
                </a:solidFill>
                <a:latin typeface="Lato" panose="020F0502020204030203"/>
                <a:ea typeface="Lato" panose="020F0502020204030203"/>
                <a:cs typeface="Lato" panose="020F0502020204030203"/>
                <a:sym typeface="Lato" panose="020F0502020204030203"/>
              </a:rPr>
              <a:t>:</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 Achieves localized therapeutic levels </a:t>
            </a:r>
            <a:r>
              <a:rPr lang="en-US" sz="2000" b="1" i="0" u="none" strike="noStrike" cap="none">
                <a:solidFill>
                  <a:srgbClr val="475569"/>
                </a:solidFill>
                <a:latin typeface="Lato" panose="020F0502020204030203"/>
                <a:ea typeface="Lato" panose="020F0502020204030203"/>
                <a:cs typeface="Lato" panose="020F0502020204030203"/>
                <a:sym typeface="Lato" panose="020F0502020204030203"/>
              </a:rPr>
              <a:t>100x</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 higher than oral dosing.</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3" name="Google Shape;153;p17"/>
          <p:cNvSpPr txBox="1"/>
          <p:nvPr>
            <p:custDataLst>
              <p:tags r:id="rId8"/>
            </p:custDataLst>
          </p:nvPr>
        </p:nvSpPr>
        <p:spPr>
          <a:xfrm>
            <a:off x="762000" y="2921950"/>
            <a:ext cx="7292700" cy="307800"/>
          </a:xfrm>
          <a:prstGeom prst="rect">
            <a:avLst/>
          </a:prstGeom>
          <a:noFill/>
          <a:ln>
            <a:noFill/>
          </a:ln>
        </p:spPr>
        <p:txBody>
          <a:bodyPr spcFirstLastPara="1" wrap="square" lIns="114300" tIns="0" rIns="0" bIns="0" anchor="t" anchorCtr="0">
            <a:noAutofit/>
          </a:bodyPr>
          <a:lstStyle/>
          <a:p>
            <a:pPr marL="0" marR="0" lvl="0" indent="0" algn="l" rtl="0">
              <a:lnSpc>
                <a:spcPct val="200000"/>
              </a:lnSpc>
              <a:spcBef>
                <a:spcPts val="0"/>
              </a:spcBef>
              <a:spcAft>
                <a:spcPts val="0"/>
              </a:spcAft>
              <a:buNone/>
            </a:pPr>
            <a:r>
              <a:rPr lang="en-US" sz="1500" b="1" i="0" u="none" strike="noStrike" cap="none">
                <a:solidFill>
                  <a:srgbClr val="475569"/>
                </a:solidFill>
                <a:latin typeface="Lato" panose="020F0502020204030203"/>
                <a:ea typeface="Lato" panose="020F0502020204030203"/>
                <a:cs typeface="Lato" panose="020F0502020204030203"/>
                <a:sym typeface="Lato" panose="020F0502020204030203"/>
              </a:rPr>
              <a:t>Transdermal Power</a:t>
            </a:r>
            <a:r>
              <a:rPr lang="en-US" sz="1500" b="1" i="0" u="none" strike="noStrike" cap="none">
                <a:solidFill>
                  <a:srgbClr val="475569"/>
                </a:solidFill>
                <a:latin typeface="Lato" panose="020F0502020204030203"/>
                <a:ea typeface="Lato" panose="020F0502020204030203"/>
                <a:cs typeface="Lato" panose="020F0502020204030203"/>
                <a:sym typeface="Lato" panose="020F0502020204030203"/>
              </a:rPr>
              <a:t>:</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 Bypasses the tympanic membrane </a:t>
            </a:r>
            <a:r>
              <a:rPr lang="en-US" sz="2000" b="1" i="0" u="none" strike="noStrike" cap="none">
                <a:solidFill>
                  <a:srgbClr val="475569"/>
                </a:solidFill>
                <a:latin typeface="Lato" panose="020F0502020204030203"/>
                <a:ea typeface="Lato" panose="020F0502020204030203"/>
                <a:cs typeface="Lato" panose="020F0502020204030203"/>
                <a:sym typeface="Lato" panose="020F0502020204030203"/>
              </a:rPr>
              <a:t>without </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needles.</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4" name="Google Shape;154;p17"/>
          <p:cNvSpPr txBox="1"/>
          <p:nvPr/>
        </p:nvSpPr>
        <p:spPr>
          <a:xfrm>
            <a:off x="647700" y="1886300"/>
            <a:ext cx="79152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0" i="0" u="none" strike="noStrike" cap="none">
                <a:solidFill>
                  <a:srgbClr val="00A3AD"/>
                </a:solidFill>
                <a:latin typeface="Lato" panose="020F0502020204030203"/>
                <a:ea typeface="Lato" panose="020F0502020204030203"/>
                <a:cs typeface="Lato" panose="020F0502020204030203"/>
                <a:sym typeface="Lato" panose="020F0502020204030203"/>
              </a:rPr>
              <a:t>Direct-to-Site Therapy: </a:t>
            </a:r>
            <a:r>
              <a:rPr lang="en-US" sz="1500">
                <a:solidFill>
                  <a:srgbClr val="475569"/>
                </a:solidFill>
                <a:latin typeface="Lato" panose="020F0502020204030203"/>
                <a:ea typeface="Lato" panose="020F0502020204030203"/>
                <a:cs typeface="Lato" panose="020F0502020204030203"/>
                <a:sym typeface="Lato" panose="020F0502020204030203"/>
              </a:rPr>
              <a:t>Apply </a:t>
            </a:r>
            <a:r>
              <a:rPr lang="en-US" sz="2000" b="1">
                <a:solidFill>
                  <a:srgbClr val="475569"/>
                </a:solidFill>
                <a:latin typeface="Lato" panose="020F0502020204030203"/>
                <a:ea typeface="Lato" panose="020F0502020204030203"/>
                <a:cs typeface="Lato" panose="020F0502020204030203"/>
                <a:sym typeface="Lato" panose="020F0502020204030203"/>
              </a:rPr>
              <a:t>once</a:t>
            </a:r>
            <a:r>
              <a:rPr lang="en-US" sz="1500">
                <a:solidFill>
                  <a:srgbClr val="475569"/>
                </a:solidFill>
                <a:latin typeface="Lato" panose="020F0502020204030203"/>
                <a:ea typeface="Lato" panose="020F0502020204030203"/>
                <a:cs typeface="Lato" panose="020F0502020204030203"/>
                <a:sym typeface="Lato" panose="020F0502020204030203"/>
              </a:rPr>
              <a:t> in-clinic by a pediatrician, Cure in </a:t>
            </a:r>
            <a:r>
              <a:rPr lang="en-US" sz="2000" b="1">
                <a:solidFill>
                  <a:srgbClr val="475569"/>
                </a:solidFill>
                <a:latin typeface="Lato" panose="020F0502020204030203"/>
                <a:ea typeface="Lato" panose="020F0502020204030203"/>
                <a:cs typeface="Lato" panose="020F0502020204030203"/>
                <a:sym typeface="Lato" panose="020F0502020204030203"/>
              </a:rPr>
              <a:t>24 hours</a:t>
            </a:r>
            <a:endParaRPr lang="en-US" sz="2000" b="1">
              <a:solidFill>
                <a:srgbClr val="475569"/>
              </a:solidFill>
              <a:latin typeface="Lato" panose="020F0502020204030203"/>
              <a:ea typeface="Lato" panose="020F0502020204030203"/>
              <a:cs typeface="Lato" panose="020F0502020204030203"/>
              <a:sym typeface="Lato" panose="020F0502020204030203"/>
            </a:endParaRPr>
          </a:p>
        </p:txBody>
      </p:sp>
      <p:pic>
        <p:nvPicPr>
          <p:cNvPr id="155" name="Google Shape;155;p17" title="letter head.png"/>
          <p:cNvPicPr preferRelativeResize="0"/>
          <p:nvPr/>
        </p:nvPicPr>
        <p:blipFill>
          <a:blip r:embed="rId9"/>
          <a:stretch>
            <a:fillRect/>
          </a:stretch>
        </p:blipFill>
        <p:spPr>
          <a:xfrm>
            <a:off x="9845325" y="0"/>
            <a:ext cx="2346676" cy="408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59" name="Shape 159"/>
        <p:cNvGrpSpPr/>
        <p:nvPr/>
      </p:nvGrpSpPr>
      <p:grpSpPr>
        <a:xfrm>
          <a:off x="0" y="0"/>
          <a:ext cx="0" cy="0"/>
          <a:chOff x="0" y="0"/>
          <a:chExt cx="0" cy="0"/>
        </a:xfrm>
      </p:grpSpPr>
      <p:pic>
        <p:nvPicPr>
          <p:cNvPr id="160" name="Google Shape;160;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61" name="Google Shape;161;p18" descr="image.png"/>
          <p:cNvPicPr preferRelativeResize="0"/>
          <p:nvPr/>
        </p:nvPicPr>
        <p:blipFill rotWithShape="1">
          <a:blip r:embed="rId2"/>
          <a:srcRect/>
          <a:stretch>
            <a:fillRect/>
          </a:stretch>
        </p:blipFill>
        <p:spPr>
          <a:xfrm>
            <a:off x="6096000" y="0"/>
            <a:ext cx="6096000" cy="6858000"/>
          </a:xfrm>
          <a:prstGeom prst="rect">
            <a:avLst/>
          </a:prstGeom>
          <a:noFill/>
          <a:ln>
            <a:noFill/>
          </a:ln>
        </p:spPr>
      </p:pic>
      <p:sp>
        <p:nvSpPr>
          <p:cNvPr id="162" name="Google Shape;162;p18"/>
          <p:cNvSpPr txBox="1"/>
          <p:nvPr/>
        </p:nvSpPr>
        <p:spPr>
          <a:xfrm>
            <a:off x="571500" y="1743075"/>
            <a:ext cx="52006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rPr>
              <a:t>Cornell-Backed Moat</a:t>
            </a:r>
            <a:endPar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163" name="Google Shape;163;p18"/>
          <p:cNvSpPr txBox="1"/>
          <p:nvPr/>
        </p:nvSpPr>
        <p:spPr>
          <a:xfrm>
            <a:off x="647700" y="2171700"/>
            <a:ext cx="1143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64" name="Google Shape;164;p18"/>
          <p:cNvSpPr txBox="1"/>
          <p:nvPr/>
        </p:nvSpPr>
        <p:spPr>
          <a:xfrm>
            <a:off x="762000" y="2171700"/>
            <a:ext cx="5388600" cy="554100"/>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Exclusively licensed technology from Cornell Univ</a:t>
            </a:r>
            <a:r>
              <a:rPr lang="en-US" sz="1500">
                <a:solidFill>
                  <a:srgbClr val="475569"/>
                </a:solidFill>
                <a:latin typeface="Lato" panose="020F0502020204030203"/>
                <a:ea typeface="Lato" panose="020F0502020204030203"/>
                <a:cs typeface="Lato" panose="020F0502020204030203"/>
                <a:sym typeface="Lato" panose="020F0502020204030203"/>
              </a:rPr>
              <a:t>ersity's School of </a:t>
            </a:r>
            <a:r>
              <a:rPr lang="en-US" sz="1500">
                <a:solidFill>
                  <a:srgbClr val="475569"/>
                </a:solidFill>
                <a:uFill>
                  <a:noFill/>
                </a:uFill>
                <a:latin typeface="Lato" panose="020F0502020204030203"/>
                <a:ea typeface="Lato" panose="020F0502020204030203"/>
                <a:cs typeface="Lato" panose="020F0502020204030203"/>
                <a:sym typeface="Lato" panose="020F0502020204030203"/>
                <a:hlinkClick r:id="rId3"/>
              </a:rPr>
              <a:t>Chemical and Biomolecular Engineering</a:t>
            </a:r>
            <a:r>
              <a:rPr lang="en-US" sz="1500">
                <a:solidFill>
                  <a:srgbClr val="475569"/>
                </a:solidFill>
                <a:latin typeface="Lato" panose="020F0502020204030203"/>
                <a:ea typeface="Lato" panose="020F0502020204030203"/>
                <a:cs typeface="Lato" panose="020F0502020204030203"/>
                <a:sym typeface="Lato" panose="020F0502020204030203"/>
              </a:rPr>
              <a:t>.</a:t>
            </a:r>
            <a:endParaRPr sz="1500">
              <a:solidFill>
                <a:srgbClr val="475569"/>
              </a:solidFill>
              <a:latin typeface="Lato" panose="020F0502020204030203"/>
              <a:ea typeface="Lato" panose="020F0502020204030203"/>
              <a:cs typeface="Lato" panose="020F0502020204030203"/>
              <a:sym typeface="Lato" panose="020F0502020204030203"/>
            </a:endParaRPr>
          </a:p>
        </p:txBody>
      </p:sp>
      <p:sp>
        <p:nvSpPr>
          <p:cNvPr id="165" name="Google Shape;165;p18"/>
          <p:cNvSpPr txBox="1"/>
          <p:nvPr/>
        </p:nvSpPr>
        <p:spPr>
          <a:xfrm>
            <a:off x="647700" y="2847975"/>
            <a:ext cx="1143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66" name="Google Shape;166;p18"/>
          <p:cNvSpPr txBox="1"/>
          <p:nvPr/>
        </p:nvSpPr>
        <p:spPr>
          <a:xfrm>
            <a:off x="762000" y="2847975"/>
            <a:ext cx="4762500" cy="877500"/>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Provisional Patent filed (</a:t>
            </a:r>
            <a:r>
              <a:rPr lang="en-US" sz="1500">
                <a:solidFill>
                  <a:srgbClr val="475569"/>
                </a:solidFill>
                <a:latin typeface="Lato" panose="020F0502020204030203"/>
                <a:ea typeface="Lato" panose="020F0502020204030203"/>
                <a:cs typeface="Lato" panose="020F0502020204030203"/>
                <a:sym typeface="Lato" panose="020F0502020204030203"/>
              </a:rPr>
              <a:t>U.S. Utility Patent Application (63/552,616)</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 covering the core transdermal mechanism.</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67" name="Google Shape;167;p18"/>
          <p:cNvSpPr txBox="1"/>
          <p:nvPr/>
        </p:nvSpPr>
        <p:spPr>
          <a:xfrm>
            <a:off x="647700" y="3858912"/>
            <a:ext cx="1143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68" name="Google Shape;168;p18"/>
          <p:cNvSpPr txBox="1"/>
          <p:nvPr/>
        </p:nvSpPr>
        <p:spPr>
          <a:xfrm>
            <a:off x="790575" y="3847650"/>
            <a:ext cx="4762500" cy="554100"/>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Invented by tenured Prof. Rong Yang (CSO), a world leader in biomaterials.</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69" name="Google Shape;169;p18"/>
          <p:cNvSpPr txBox="1"/>
          <p:nvPr/>
        </p:nvSpPr>
        <p:spPr>
          <a:xfrm>
            <a:off x="571500" y="762000"/>
            <a:ext cx="52006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Unrivaled IP Protection</a:t>
            </a:r>
            <a:endPar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pic>
        <p:nvPicPr>
          <p:cNvPr id="170" name="Google Shape;170;p18" title="letter head.png"/>
          <p:cNvPicPr preferRelativeResize="0"/>
          <p:nvPr/>
        </p:nvPicPr>
        <p:blipFill>
          <a:blip r:embed="rId4"/>
          <a:stretch>
            <a:fillRect/>
          </a:stretch>
        </p:blipFill>
        <p:spPr>
          <a:xfrm>
            <a:off x="9845325" y="0"/>
            <a:ext cx="2346676" cy="408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pic>
        <p:nvPicPr>
          <p:cNvPr id="3" name="图片 2"/>
          <p:cNvPicPr>
            <a:picLocks noChangeAspect="1"/>
          </p:cNvPicPr>
          <p:nvPr/>
        </p:nvPicPr>
        <p:blipFill>
          <a:blip r:embed="rId1"/>
          <a:srcRect l="11785" r="10202"/>
          <a:stretch>
            <a:fillRect/>
          </a:stretch>
        </p:blipFill>
        <p:spPr>
          <a:xfrm>
            <a:off x="6559550" y="1615440"/>
            <a:ext cx="5632450" cy="4171950"/>
          </a:xfrm>
          <a:prstGeom prst="rect">
            <a:avLst/>
          </a:prstGeom>
        </p:spPr>
      </p:pic>
      <p:pic>
        <p:nvPicPr>
          <p:cNvPr id="1" name="图片 0"/>
          <p:cNvPicPr>
            <a:picLocks noChangeAspect="1"/>
          </p:cNvPicPr>
          <p:nvPr/>
        </p:nvPicPr>
        <p:blipFill>
          <a:blip r:embed="rId2"/>
          <a:stretch>
            <a:fillRect/>
          </a:stretch>
        </p:blipFill>
        <p:spPr>
          <a:xfrm>
            <a:off x="6554470" y="2055495"/>
            <a:ext cx="1344295" cy="276225"/>
          </a:xfrm>
          <a:prstGeom prst="rect">
            <a:avLst/>
          </a:prstGeom>
        </p:spPr>
      </p:pic>
      <p:sp>
        <p:nvSpPr>
          <p:cNvPr id="145" name="Google Shape;145;p17"/>
          <p:cNvSpPr txBox="1"/>
          <p:nvPr>
            <p:custDataLst>
              <p:tags r:id="rId3"/>
            </p:custDataLst>
          </p:nvPr>
        </p:nvSpPr>
        <p:spPr>
          <a:xfrm>
            <a:off x="579120" y="2220910"/>
            <a:ext cx="114300" cy="230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46" name="Google Shape;146;p17"/>
          <p:cNvSpPr txBox="1"/>
          <p:nvPr>
            <p:custDataLst>
              <p:tags r:id="rId4"/>
            </p:custDataLst>
          </p:nvPr>
        </p:nvSpPr>
        <p:spPr>
          <a:xfrm>
            <a:off x="579120" y="3288000"/>
            <a:ext cx="114300" cy="230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47" name="Google Shape;147;p17"/>
          <p:cNvSpPr txBox="1"/>
          <p:nvPr>
            <p:custDataLst>
              <p:tags r:id="rId5"/>
            </p:custDataLst>
          </p:nvPr>
        </p:nvSpPr>
        <p:spPr>
          <a:xfrm>
            <a:off x="579120" y="4431900"/>
            <a:ext cx="114300" cy="230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48" name="Google Shape;148;p17"/>
          <p:cNvSpPr txBox="1"/>
          <p:nvPr>
            <p:custDataLst>
              <p:tags r:id="rId6"/>
            </p:custDataLst>
          </p:nvPr>
        </p:nvSpPr>
        <p:spPr>
          <a:xfrm>
            <a:off x="693420" y="4128770"/>
            <a:ext cx="6148070" cy="728980"/>
          </a:xfrm>
          <a:prstGeom prst="rect">
            <a:avLst/>
          </a:prstGeom>
          <a:noFill/>
          <a:ln>
            <a:noFill/>
          </a:ln>
        </p:spPr>
        <p:txBody>
          <a:bodyPr spcFirstLastPara="1" wrap="square" lIns="114300" tIns="0" rIns="0" bIns="0" anchor="t" anchorCtr="0">
            <a:noAutofit/>
          </a:bodyPr>
          <a:lstStyle/>
          <a:p>
            <a:pPr marL="0" marR="0" lvl="0" indent="0" algn="l" rtl="0">
              <a:lnSpc>
                <a:spcPct val="200000"/>
              </a:lnSpc>
              <a:spcBef>
                <a:spcPts val="0"/>
              </a:spcBef>
              <a:spcAft>
                <a:spcPts val="0"/>
              </a:spcAft>
              <a:buNone/>
            </a:pPr>
            <a:r>
              <a:rPr lang="en-US" sz="1500" b="1">
                <a:solidFill>
                  <a:srgbClr val="475569"/>
                </a:solidFill>
                <a:latin typeface="Lato" panose="020F0502020204030203"/>
                <a:ea typeface="Lato" panose="020F0502020204030203"/>
                <a:cs typeface="Lato" panose="020F0502020204030203"/>
                <a:sym typeface="Lato" panose="020F0502020204030203"/>
              </a:rPr>
              <a:t>Targeted Delivery</a:t>
            </a:r>
            <a:r>
              <a:rPr lang="en-US" sz="1500" b="1" i="0" u="none" strike="noStrike" cap="none">
                <a:solidFill>
                  <a:srgbClr val="475569"/>
                </a:solidFill>
                <a:latin typeface="Lato" panose="020F0502020204030203"/>
                <a:ea typeface="Lato" panose="020F0502020204030203"/>
                <a:cs typeface="Lato" panose="020F0502020204030203"/>
                <a:sym typeface="Lato" panose="020F0502020204030203"/>
              </a:rPr>
              <a:t>: </a:t>
            </a:r>
            <a:r>
              <a:rPr lang="en-US" sz="1500" i="0" u="none" strike="noStrike" cap="none">
                <a:solidFill>
                  <a:srgbClr val="475569"/>
                </a:solidFill>
                <a:latin typeface="Lato" panose="020F0502020204030203"/>
                <a:ea typeface="Lato" panose="020F0502020204030203"/>
                <a:cs typeface="Lato" panose="020F0502020204030203"/>
                <a:sym typeface="Lato" panose="020F0502020204030203"/>
              </a:rPr>
              <a:t>Encapsulated antibotics are liberated at the infection and eradicate OM.</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0" name="Google Shape;150;p17"/>
          <p:cNvSpPr txBox="1"/>
          <p:nvPr/>
        </p:nvSpPr>
        <p:spPr>
          <a:xfrm>
            <a:off x="762000" y="571500"/>
            <a:ext cx="11401500" cy="484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a:solidFill>
                  <a:srgbClr val="002147"/>
                </a:solidFill>
                <a:latin typeface="Poppins" panose="00000500000000000000"/>
                <a:ea typeface="Poppins" panose="00000500000000000000"/>
                <a:cs typeface="Poppins" panose="00000500000000000000"/>
                <a:sym typeface="Poppins" panose="00000500000000000000"/>
              </a:rPr>
              <a:t>Our </a:t>
            </a: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Propriatary </a:t>
            </a: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Formulation</a:t>
            </a:r>
            <a:endPar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151" name="Google Shape;151;p17"/>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2" name="Google Shape;152;p17"/>
          <p:cNvSpPr txBox="1"/>
          <p:nvPr>
            <p:custDataLst>
              <p:tags r:id="rId7"/>
            </p:custDataLst>
          </p:nvPr>
        </p:nvSpPr>
        <p:spPr>
          <a:xfrm>
            <a:off x="693420" y="2996565"/>
            <a:ext cx="6852920" cy="1179830"/>
          </a:xfrm>
          <a:prstGeom prst="rect">
            <a:avLst/>
          </a:prstGeom>
          <a:noFill/>
          <a:ln>
            <a:noFill/>
          </a:ln>
        </p:spPr>
        <p:txBody>
          <a:bodyPr spcFirstLastPara="1" wrap="square" lIns="114300" tIns="0" rIns="0" bIns="0" anchor="t" anchorCtr="0">
            <a:noAutofit/>
          </a:bodyPr>
          <a:lstStyle/>
          <a:p>
            <a:pPr marL="0" marR="0" lvl="0" indent="0" algn="l" rtl="0">
              <a:lnSpc>
                <a:spcPct val="200000"/>
              </a:lnSpc>
              <a:spcBef>
                <a:spcPts val="0"/>
              </a:spcBef>
              <a:spcAft>
                <a:spcPts val="0"/>
              </a:spcAft>
              <a:buNone/>
            </a:pPr>
            <a:r>
              <a:rPr lang="en-US" sz="1500" b="1">
                <a:solidFill>
                  <a:srgbClr val="475569"/>
                </a:solidFill>
                <a:latin typeface="Lato" panose="020F0502020204030203"/>
                <a:ea typeface="Lato" panose="020F0502020204030203"/>
                <a:cs typeface="Lato" panose="020F0502020204030203"/>
                <a:sym typeface="Lato" panose="020F0502020204030203"/>
              </a:rPr>
              <a:t>Active Traverse:</a:t>
            </a:r>
            <a:r>
              <a:rPr lang="en-US" sz="1500">
                <a:solidFill>
                  <a:srgbClr val="475569"/>
                </a:solidFill>
                <a:latin typeface="Lato" panose="020F0502020204030203"/>
                <a:ea typeface="Lato" panose="020F0502020204030203"/>
                <a:cs typeface="Lato" panose="020F0502020204030203"/>
                <a:sym typeface="Lato" panose="020F0502020204030203"/>
              </a:rPr>
              <a:t> Liposomes hitchhike immune cells to  pass through TM effciently.</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3" name="Google Shape;153;p17"/>
          <p:cNvSpPr txBox="1"/>
          <p:nvPr>
            <p:custDataLst>
              <p:tags r:id="rId8"/>
            </p:custDataLst>
          </p:nvPr>
        </p:nvSpPr>
        <p:spPr>
          <a:xfrm>
            <a:off x="693420" y="1925320"/>
            <a:ext cx="7292975" cy="1143635"/>
          </a:xfrm>
          <a:prstGeom prst="rect">
            <a:avLst/>
          </a:prstGeom>
          <a:noFill/>
          <a:ln>
            <a:noFill/>
          </a:ln>
        </p:spPr>
        <p:txBody>
          <a:bodyPr spcFirstLastPara="1" wrap="square" lIns="114300" tIns="0" rIns="0" bIns="0" anchor="t" anchorCtr="0">
            <a:noAutofit/>
          </a:bodyPr>
          <a:lstStyle/>
          <a:p>
            <a:pPr marL="0" marR="0" lvl="0" indent="0" algn="l" rtl="0">
              <a:lnSpc>
                <a:spcPct val="200000"/>
              </a:lnSpc>
              <a:spcBef>
                <a:spcPts val="0"/>
              </a:spcBef>
              <a:spcAft>
                <a:spcPts val="0"/>
              </a:spcAft>
              <a:buNone/>
            </a:pPr>
            <a:r>
              <a:rPr lang="en-US" sz="1500" b="1">
                <a:solidFill>
                  <a:srgbClr val="475569"/>
                </a:solidFill>
                <a:latin typeface="Lato" panose="020F0502020204030203"/>
                <a:ea typeface="Lato" panose="020F0502020204030203"/>
                <a:cs typeface="Lato" panose="020F0502020204030203"/>
                <a:sym typeface="Lato" panose="020F0502020204030203"/>
              </a:rPr>
              <a:t>Sustained Release: </a:t>
            </a:r>
            <a:r>
              <a:rPr lang="en-US" sz="1500">
                <a:solidFill>
                  <a:srgbClr val="475569"/>
                </a:solidFill>
                <a:latin typeface="Lato" panose="020F0502020204030203"/>
                <a:ea typeface="Lato" panose="020F0502020204030203"/>
                <a:cs typeface="Lato" panose="020F0502020204030203"/>
                <a:sym typeface="Lato" panose="020F0502020204030203"/>
              </a:rPr>
              <a:t>Thermoresponsive hydrogel serves as a long-acting reservoir for the continuous delivery.  </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155" name="Google Shape;155;p17" title="letter head.png"/>
          <p:cNvPicPr preferRelativeResize="0"/>
          <p:nvPr/>
        </p:nvPicPr>
        <p:blipFill>
          <a:blip r:embed="rId9"/>
          <a:stretch>
            <a:fillRect/>
          </a:stretch>
        </p:blipFill>
        <p:spPr>
          <a:xfrm>
            <a:off x="9845325" y="0"/>
            <a:ext cx="2346676" cy="408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pic>
        <p:nvPicPr>
          <p:cNvPr id="144" name="Google Shape;144;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0" name="Google Shape;150;p17"/>
          <p:cNvSpPr txBox="1"/>
          <p:nvPr/>
        </p:nvSpPr>
        <p:spPr>
          <a:xfrm>
            <a:off x="762000" y="571500"/>
            <a:ext cx="11401500" cy="484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a:solidFill>
                  <a:srgbClr val="002147"/>
                </a:solidFill>
                <a:latin typeface="Poppins" panose="00000500000000000000"/>
                <a:ea typeface="Poppins" panose="00000500000000000000"/>
                <a:cs typeface="Poppins" panose="00000500000000000000"/>
                <a:sym typeface="Poppins" panose="00000500000000000000"/>
              </a:rPr>
              <a:t>Super Efficacy: Single Dose, Rapid Sterilization</a:t>
            </a:r>
            <a:endParaRPr lang="en-US" sz="3150" b="1">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151" name="Google Shape;151;p17"/>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55" name="Google Shape;155;p17" title="letter head.png"/>
          <p:cNvPicPr preferRelativeResize="0"/>
          <p:nvPr/>
        </p:nvPicPr>
        <p:blipFill>
          <a:blip r:embed="rId2"/>
          <a:stretch>
            <a:fillRect/>
          </a:stretch>
        </p:blipFill>
        <p:spPr>
          <a:xfrm>
            <a:off x="9845325" y="0"/>
            <a:ext cx="2346676" cy="408925"/>
          </a:xfrm>
          <a:prstGeom prst="rect">
            <a:avLst/>
          </a:prstGeom>
          <a:noFill/>
          <a:ln>
            <a:noFill/>
          </a:ln>
        </p:spPr>
      </p:pic>
      <p:pic>
        <p:nvPicPr>
          <p:cNvPr id="1" name="图片 0"/>
          <p:cNvPicPr>
            <a:picLocks noChangeAspect="1"/>
          </p:cNvPicPr>
          <p:nvPr/>
        </p:nvPicPr>
        <p:blipFill>
          <a:blip r:embed="rId3"/>
          <a:stretch>
            <a:fillRect/>
          </a:stretch>
        </p:blipFill>
        <p:spPr>
          <a:xfrm>
            <a:off x="571500" y="1929765"/>
            <a:ext cx="10858500" cy="4810125"/>
          </a:xfrm>
          <a:prstGeom prst="rect">
            <a:avLst/>
          </a:prstGeom>
        </p:spPr>
      </p:pic>
      <p:pic>
        <p:nvPicPr>
          <p:cNvPr id="199" name="Google Shape;199;p19"/>
          <p:cNvPicPr preferRelativeResize="0"/>
          <p:nvPr/>
        </p:nvPicPr>
        <p:blipFill>
          <a:blip r:embed="rId4"/>
          <a:stretch>
            <a:fillRect/>
          </a:stretch>
        </p:blipFill>
        <p:spPr>
          <a:xfrm>
            <a:off x="761721" y="1055795"/>
            <a:ext cx="1326650" cy="1147649"/>
          </a:xfrm>
          <a:prstGeom prst="rect">
            <a:avLst/>
          </a:prstGeom>
          <a:noFill/>
          <a:ln>
            <a:noFill/>
          </a:ln>
        </p:spPr>
      </p:pic>
      <p:sp>
        <p:nvSpPr>
          <p:cNvPr id="2" name="文本框 1"/>
          <p:cNvSpPr txBox="1"/>
          <p:nvPr/>
        </p:nvSpPr>
        <p:spPr>
          <a:xfrm>
            <a:off x="2157730" y="1468755"/>
            <a:ext cx="3717925" cy="321945"/>
          </a:xfrm>
          <a:prstGeom prst="rect">
            <a:avLst/>
          </a:prstGeom>
          <a:noFill/>
        </p:spPr>
        <p:txBody>
          <a:bodyPr wrap="square" rtlCol="0" anchor="t">
            <a:spAutoFit/>
          </a:bodyPr>
          <a:p>
            <a:r>
              <a:rPr lang="en-US" sz="1500">
                <a:solidFill>
                  <a:srgbClr val="475569"/>
                </a:solidFill>
                <a:latin typeface="Lato" panose="020F0502020204030203"/>
                <a:ea typeface="Lato" panose="020F0502020204030203"/>
                <a:cs typeface="Lato" panose="020F0502020204030203"/>
                <a:sym typeface="Lato" panose="020F0502020204030203"/>
              </a:rPr>
              <a:t>FDA-accepted preclinical animal model</a:t>
            </a:r>
            <a:endParaRPr lang="en-US" altLang="en-US" sz="1500">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74" name="Shape 174"/>
        <p:cNvGrpSpPr/>
        <p:nvPr/>
      </p:nvGrpSpPr>
      <p:grpSpPr>
        <a:xfrm>
          <a:off x="0" y="0"/>
          <a:ext cx="0" cy="0"/>
          <a:chOff x="0" y="0"/>
          <a:chExt cx="0" cy="0"/>
        </a:xfrm>
      </p:grpSpPr>
      <p:pic>
        <p:nvPicPr>
          <p:cNvPr id="175" name="Google Shape;175;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76" name="Google Shape;176;p19"/>
          <p:cNvSpPr/>
          <p:nvPr/>
        </p:nvSpPr>
        <p:spPr>
          <a:xfrm>
            <a:off x="1672530" y="2886075"/>
            <a:ext cx="228600" cy="228600"/>
          </a:xfrm>
          <a:prstGeom prst="roundRect">
            <a:avLst>
              <a:gd name="adj" fmla="val 50000"/>
            </a:avLst>
          </a:prstGeom>
          <a:solidFill>
            <a:srgbClr val="00A3AD"/>
          </a:solidFill>
          <a:ln w="381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7" name="Google Shape;177;p19"/>
          <p:cNvSpPr/>
          <p:nvPr/>
        </p:nvSpPr>
        <p:spPr>
          <a:xfrm>
            <a:off x="4545210" y="2886075"/>
            <a:ext cx="228600" cy="228600"/>
          </a:xfrm>
          <a:prstGeom prst="roundRect">
            <a:avLst>
              <a:gd name="adj" fmla="val 50000"/>
            </a:avLst>
          </a:prstGeom>
          <a:solidFill>
            <a:srgbClr val="00A3AD"/>
          </a:solidFill>
          <a:ln w="381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8" name="Google Shape;178;p19"/>
          <p:cNvSpPr/>
          <p:nvPr/>
        </p:nvSpPr>
        <p:spPr>
          <a:xfrm>
            <a:off x="571500" y="4157662"/>
            <a:ext cx="11049000" cy="381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79" name="Google Shape;179;p19" descr="image.png"/>
          <p:cNvPicPr preferRelativeResize="0"/>
          <p:nvPr/>
        </p:nvPicPr>
        <p:blipFill rotWithShape="1">
          <a:blip r:embed="rId2"/>
          <a:srcRect/>
          <a:stretch>
            <a:fillRect/>
          </a:stretch>
        </p:blipFill>
        <p:spPr>
          <a:xfrm>
            <a:off x="3444180" y="3305175"/>
            <a:ext cx="2430660" cy="1590675"/>
          </a:xfrm>
          <a:prstGeom prst="rect">
            <a:avLst/>
          </a:prstGeom>
          <a:noFill/>
          <a:ln>
            <a:noFill/>
          </a:ln>
        </p:spPr>
      </p:pic>
      <p:pic>
        <p:nvPicPr>
          <p:cNvPr id="180" name="Google Shape;180;p19" descr="image.png"/>
          <p:cNvPicPr preferRelativeResize="0"/>
          <p:nvPr/>
        </p:nvPicPr>
        <p:blipFill rotWithShape="1">
          <a:blip r:embed="rId3"/>
          <a:srcRect/>
          <a:stretch>
            <a:fillRect/>
          </a:stretch>
        </p:blipFill>
        <p:spPr>
          <a:xfrm>
            <a:off x="9189541" y="3305175"/>
            <a:ext cx="2430660" cy="1590675"/>
          </a:xfrm>
          <a:prstGeom prst="rect">
            <a:avLst/>
          </a:prstGeom>
          <a:noFill/>
          <a:ln>
            <a:noFill/>
          </a:ln>
        </p:spPr>
      </p:pic>
      <p:pic>
        <p:nvPicPr>
          <p:cNvPr id="181" name="Google Shape;181;p19" descr="image.png"/>
          <p:cNvPicPr preferRelativeResize="0"/>
          <p:nvPr/>
        </p:nvPicPr>
        <p:blipFill rotWithShape="1">
          <a:blip r:embed="rId4"/>
          <a:srcRect/>
          <a:stretch>
            <a:fillRect/>
          </a:stretch>
        </p:blipFill>
        <p:spPr>
          <a:xfrm>
            <a:off x="6316860" y="3305175"/>
            <a:ext cx="2430660" cy="1590675"/>
          </a:xfrm>
          <a:prstGeom prst="rect">
            <a:avLst/>
          </a:prstGeom>
          <a:noFill/>
          <a:ln>
            <a:noFill/>
          </a:ln>
        </p:spPr>
      </p:pic>
      <p:sp>
        <p:nvSpPr>
          <p:cNvPr id="182" name="Google Shape;182;p19"/>
          <p:cNvSpPr/>
          <p:nvPr/>
        </p:nvSpPr>
        <p:spPr>
          <a:xfrm>
            <a:off x="7417891" y="2886075"/>
            <a:ext cx="228600" cy="228600"/>
          </a:xfrm>
          <a:prstGeom prst="roundRect">
            <a:avLst>
              <a:gd name="adj" fmla="val 50000"/>
            </a:avLst>
          </a:prstGeom>
          <a:solidFill>
            <a:srgbClr val="00A3AD"/>
          </a:solidFill>
          <a:ln w="381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83" name="Google Shape;183;p19" descr="image.png"/>
          <p:cNvPicPr preferRelativeResize="0"/>
          <p:nvPr/>
        </p:nvPicPr>
        <p:blipFill rotWithShape="1">
          <a:blip r:embed="rId5"/>
          <a:srcRect/>
          <a:stretch>
            <a:fillRect/>
          </a:stretch>
        </p:blipFill>
        <p:spPr>
          <a:xfrm>
            <a:off x="571500" y="3305175"/>
            <a:ext cx="2430650" cy="1590675"/>
          </a:xfrm>
          <a:prstGeom prst="rect">
            <a:avLst/>
          </a:prstGeom>
          <a:noFill/>
          <a:ln>
            <a:noFill/>
          </a:ln>
        </p:spPr>
      </p:pic>
      <p:sp>
        <p:nvSpPr>
          <p:cNvPr id="184" name="Google Shape;184;p19"/>
          <p:cNvSpPr/>
          <p:nvPr/>
        </p:nvSpPr>
        <p:spPr>
          <a:xfrm>
            <a:off x="10290571" y="2886075"/>
            <a:ext cx="228600" cy="228600"/>
          </a:xfrm>
          <a:prstGeom prst="roundRect">
            <a:avLst>
              <a:gd name="adj" fmla="val 50000"/>
            </a:avLst>
          </a:prstGeom>
          <a:solidFill>
            <a:srgbClr val="00A3AD"/>
          </a:solidFill>
          <a:ln w="381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5" name="Google Shape;185;p19"/>
          <p:cNvSpPr txBox="1"/>
          <p:nvPr/>
        </p:nvSpPr>
        <p:spPr>
          <a:xfrm>
            <a:off x="720759" y="3505200"/>
            <a:ext cx="2132141"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rPr>
              <a:t>Q1-Q2 2026</a:t>
            </a:r>
            <a:endPar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186" name="Google Shape;186;p19"/>
          <p:cNvSpPr txBox="1"/>
          <p:nvPr/>
        </p:nvSpPr>
        <p:spPr>
          <a:xfrm>
            <a:off x="771525" y="3971925"/>
            <a:ext cx="20307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a:solidFill>
                  <a:srgbClr val="475569"/>
                </a:solidFill>
                <a:latin typeface="Lato" panose="020F0502020204030203"/>
                <a:ea typeface="Lato" panose="020F0502020204030203"/>
                <a:cs typeface="Lato" panose="020F0502020204030203"/>
                <a:sym typeface="Lato" panose="020F0502020204030203"/>
              </a:rPr>
              <a:t>CMC</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 &amp; PK/PD (CRO Partners)</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87" name="Google Shape;187;p19"/>
          <p:cNvSpPr txBox="1"/>
          <p:nvPr/>
        </p:nvSpPr>
        <p:spPr>
          <a:xfrm>
            <a:off x="3593440" y="3505200"/>
            <a:ext cx="2132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rPr>
              <a:t>Q3 2026-Q</a:t>
            </a:r>
            <a:r>
              <a:rPr lang="en-US" sz="1405" b="1">
                <a:solidFill>
                  <a:srgbClr val="002147"/>
                </a:solidFill>
                <a:latin typeface="Poppins" panose="00000500000000000000"/>
                <a:ea typeface="Poppins" panose="00000500000000000000"/>
                <a:cs typeface="Poppins" panose="00000500000000000000"/>
                <a:sym typeface="Poppins" panose="00000500000000000000"/>
              </a:rPr>
              <a:t>1</a:t>
            </a:r>
            <a:r>
              <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rPr>
              <a:t> 202</a:t>
            </a:r>
            <a:r>
              <a:rPr lang="en-US" sz="1405" b="1">
                <a:solidFill>
                  <a:srgbClr val="002147"/>
                </a:solidFill>
                <a:latin typeface="Poppins" panose="00000500000000000000"/>
                <a:ea typeface="Poppins" panose="00000500000000000000"/>
                <a:cs typeface="Poppins" panose="00000500000000000000"/>
                <a:sym typeface="Poppins" panose="00000500000000000000"/>
              </a:rPr>
              <a:t>7</a:t>
            </a:r>
            <a:endParaRPr lang="en-US" sz="1405" b="1">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188" name="Google Shape;188;p19"/>
          <p:cNvSpPr txBox="1"/>
          <p:nvPr/>
        </p:nvSpPr>
        <p:spPr>
          <a:xfrm>
            <a:off x="6567530" y="3971925"/>
            <a:ext cx="20307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Dual IND Filing (U.S. FDA &amp; China NMPA)</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89" name="Google Shape;189;p19"/>
          <p:cNvSpPr txBox="1"/>
          <p:nvPr/>
        </p:nvSpPr>
        <p:spPr>
          <a:xfrm>
            <a:off x="6466120" y="3505200"/>
            <a:ext cx="2132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rPr>
              <a:t>Q</a:t>
            </a:r>
            <a:r>
              <a:rPr lang="en-US" sz="1405" b="1">
                <a:solidFill>
                  <a:srgbClr val="002147"/>
                </a:solidFill>
                <a:latin typeface="Poppins" panose="00000500000000000000"/>
                <a:ea typeface="Poppins" panose="00000500000000000000"/>
                <a:cs typeface="Poppins" panose="00000500000000000000"/>
                <a:sym typeface="Poppins" panose="00000500000000000000"/>
              </a:rPr>
              <a:t>2</a:t>
            </a:r>
            <a:r>
              <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rPr>
              <a:t> 2027</a:t>
            </a:r>
            <a:endPar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190" name="Google Shape;190;p19"/>
          <p:cNvSpPr txBox="1"/>
          <p:nvPr/>
        </p:nvSpPr>
        <p:spPr>
          <a:xfrm>
            <a:off x="9389560" y="3971925"/>
            <a:ext cx="20307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Phase 1b</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 </a:t>
            </a:r>
            <a:r>
              <a:rPr lang="en-US" sz="1500">
                <a:solidFill>
                  <a:srgbClr val="475569"/>
                </a:solidFill>
                <a:latin typeface="Lato" panose="020F0502020204030203"/>
                <a:ea typeface="Lato" panose="020F0502020204030203"/>
                <a:cs typeface="Lato" panose="020F0502020204030203"/>
                <a:sym typeface="Lato" panose="020F0502020204030203"/>
              </a:rPr>
              <a:t>             </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(U.S./China Dual Track)</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91" name="Google Shape;191;p19"/>
          <p:cNvSpPr txBox="1"/>
          <p:nvPr/>
        </p:nvSpPr>
        <p:spPr>
          <a:xfrm>
            <a:off x="9338801" y="3505200"/>
            <a:ext cx="2132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a:solidFill>
                  <a:srgbClr val="002147"/>
                </a:solidFill>
                <a:latin typeface="Poppins" panose="00000500000000000000"/>
                <a:ea typeface="Poppins" panose="00000500000000000000"/>
                <a:cs typeface="Poppins" panose="00000500000000000000"/>
                <a:sym typeface="Poppins" panose="00000500000000000000"/>
              </a:rPr>
              <a:t>Q3-Q4</a:t>
            </a:r>
            <a:r>
              <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rPr>
              <a:t> 2027</a:t>
            </a:r>
            <a:endPar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192" name="Google Shape;192;p19"/>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Strategic Road to Phase 1</a:t>
            </a:r>
            <a:endPar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193" name="Google Shape;193;p19"/>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4" name="Google Shape;194;p19"/>
          <p:cNvSpPr txBox="1"/>
          <p:nvPr/>
        </p:nvSpPr>
        <p:spPr>
          <a:xfrm>
            <a:off x="3644150" y="3971925"/>
            <a:ext cx="20307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GLP Toxicology (CRO Partners)</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195" name="Google Shape;195;p19" title="letter head.png"/>
          <p:cNvPicPr preferRelativeResize="0"/>
          <p:nvPr/>
        </p:nvPicPr>
        <p:blipFill>
          <a:blip r:embed="rId6"/>
          <a:stretch>
            <a:fillRect/>
          </a:stretch>
        </p:blipFill>
        <p:spPr>
          <a:xfrm>
            <a:off x="9845325" y="0"/>
            <a:ext cx="2346676" cy="408925"/>
          </a:xfrm>
          <a:prstGeom prst="rect">
            <a:avLst/>
          </a:prstGeom>
          <a:noFill/>
          <a:ln>
            <a:noFill/>
          </a:ln>
        </p:spPr>
      </p:pic>
      <p:sp>
        <p:nvSpPr>
          <p:cNvPr id="196" name="Google Shape;196;p19"/>
          <p:cNvSpPr txBox="1"/>
          <p:nvPr/>
        </p:nvSpPr>
        <p:spPr>
          <a:xfrm>
            <a:off x="1125600" y="1757075"/>
            <a:ext cx="663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00">
                <a:solidFill>
                  <a:srgbClr val="475569"/>
                </a:solidFill>
                <a:latin typeface="Lato" panose="020F0502020204030203"/>
                <a:ea typeface="Lato" panose="020F0502020204030203"/>
                <a:cs typeface="Lato" panose="020F0502020204030203"/>
                <a:sym typeface="Lato" panose="020F0502020204030203"/>
              </a:rPr>
              <a:t>Preliminary safety and efficacy data in FDA-accepted preclinical animal model</a:t>
            </a:r>
            <a:endParaRPr sz="1500">
              <a:solidFill>
                <a:srgbClr val="475569"/>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500">
              <a:solidFill>
                <a:srgbClr val="475569"/>
              </a:solidFill>
              <a:latin typeface="Lato" panose="020F0502020204030203"/>
              <a:ea typeface="Lato" panose="020F0502020204030203"/>
              <a:cs typeface="Lato" panose="020F0502020204030203"/>
              <a:sym typeface="Lato" panose="020F0502020204030203"/>
            </a:endParaRPr>
          </a:p>
        </p:txBody>
      </p:sp>
      <p:pic>
        <p:nvPicPr>
          <p:cNvPr id="197" name="Google Shape;197;p19"/>
          <p:cNvPicPr preferRelativeResize="0"/>
          <p:nvPr/>
        </p:nvPicPr>
        <p:blipFill>
          <a:blip r:embed="rId7"/>
          <a:stretch>
            <a:fillRect/>
          </a:stretch>
        </p:blipFill>
        <p:spPr>
          <a:xfrm>
            <a:off x="571500" y="1705575"/>
            <a:ext cx="554100" cy="554100"/>
          </a:xfrm>
          <a:prstGeom prst="rect">
            <a:avLst/>
          </a:prstGeom>
          <a:noFill/>
          <a:ln>
            <a:noFill/>
          </a:ln>
        </p:spPr>
      </p:pic>
      <p:sp>
        <p:nvSpPr>
          <p:cNvPr id="198" name="Google Shape;198;p19"/>
          <p:cNvSpPr txBox="1"/>
          <p:nvPr/>
        </p:nvSpPr>
        <p:spPr>
          <a:xfrm>
            <a:off x="2852909" y="1566818"/>
            <a:ext cx="2132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rPr>
              <a:t>Q</a:t>
            </a:r>
            <a:r>
              <a:rPr lang="en-US" sz="1405" b="1">
                <a:solidFill>
                  <a:srgbClr val="002147"/>
                </a:solidFill>
                <a:latin typeface="Poppins" panose="00000500000000000000"/>
                <a:ea typeface="Poppins" panose="00000500000000000000"/>
                <a:cs typeface="Poppins" panose="00000500000000000000"/>
                <a:sym typeface="Poppins" panose="00000500000000000000"/>
              </a:rPr>
              <a:t>3</a:t>
            </a:r>
            <a:r>
              <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rPr>
              <a:t>-Q</a:t>
            </a:r>
            <a:r>
              <a:rPr lang="en-US" sz="1405" b="1">
                <a:solidFill>
                  <a:srgbClr val="002147"/>
                </a:solidFill>
                <a:latin typeface="Poppins" panose="00000500000000000000"/>
                <a:ea typeface="Poppins" panose="00000500000000000000"/>
                <a:cs typeface="Poppins" panose="00000500000000000000"/>
                <a:sym typeface="Poppins" panose="00000500000000000000"/>
              </a:rPr>
              <a:t>4</a:t>
            </a:r>
            <a:r>
              <a:rPr lang="en-US" sz="1405" b="1" i="0" u="none" strike="noStrike" cap="none">
                <a:solidFill>
                  <a:srgbClr val="002147"/>
                </a:solidFill>
                <a:latin typeface="Poppins" panose="00000500000000000000"/>
                <a:ea typeface="Poppins" panose="00000500000000000000"/>
                <a:cs typeface="Poppins" panose="00000500000000000000"/>
                <a:sym typeface="Poppins" panose="00000500000000000000"/>
              </a:rPr>
              <a:t> 202</a:t>
            </a:r>
            <a:r>
              <a:rPr lang="en-US" sz="1405" b="1">
                <a:solidFill>
                  <a:srgbClr val="002147"/>
                </a:solidFill>
                <a:latin typeface="Poppins" panose="00000500000000000000"/>
                <a:ea typeface="Poppins" panose="00000500000000000000"/>
                <a:cs typeface="Poppins" panose="00000500000000000000"/>
                <a:sym typeface="Poppins" panose="00000500000000000000"/>
              </a:rPr>
              <a:t>5</a:t>
            </a:r>
            <a:endParaRPr lang="en-US" sz="1405" b="1">
              <a:solidFill>
                <a:srgbClr val="002147"/>
              </a:solidFill>
              <a:latin typeface="Poppins" panose="00000500000000000000"/>
              <a:ea typeface="Poppins" panose="00000500000000000000"/>
              <a:cs typeface="Poppins" panose="00000500000000000000"/>
              <a:sym typeface="Poppins" panose="00000500000000000000"/>
            </a:endParaRPr>
          </a:p>
        </p:txBody>
      </p:sp>
      <p:pic>
        <p:nvPicPr>
          <p:cNvPr id="199" name="Google Shape;199;p19"/>
          <p:cNvPicPr preferRelativeResize="0"/>
          <p:nvPr/>
        </p:nvPicPr>
        <p:blipFill>
          <a:blip r:embed="rId8"/>
          <a:stretch>
            <a:fillRect/>
          </a:stretch>
        </p:blipFill>
        <p:spPr>
          <a:xfrm>
            <a:off x="7681316" y="1311700"/>
            <a:ext cx="1326650" cy="11476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03" name="Shape 203"/>
        <p:cNvGrpSpPr/>
        <p:nvPr/>
      </p:nvGrpSpPr>
      <p:grpSpPr>
        <a:xfrm>
          <a:off x="0" y="0"/>
          <a:ext cx="0" cy="0"/>
          <a:chOff x="0" y="0"/>
          <a:chExt cx="0" cy="0"/>
        </a:xfrm>
      </p:grpSpPr>
      <p:pic>
        <p:nvPicPr>
          <p:cNvPr id="204" name="Google Shape;204;p20"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05" name="Google Shape;205;p20" descr="image.png"/>
          <p:cNvPicPr preferRelativeResize="0"/>
          <p:nvPr/>
        </p:nvPicPr>
        <p:blipFill rotWithShape="1">
          <a:blip r:embed="rId2"/>
          <a:srcRect/>
          <a:stretch>
            <a:fillRect/>
          </a:stretch>
        </p:blipFill>
        <p:spPr>
          <a:xfrm>
            <a:off x="571500" y="1647825"/>
            <a:ext cx="5334000" cy="4991100"/>
          </a:xfrm>
          <a:prstGeom prst="rect">
            <a:avLst/>
          </a:prstGeom>
          <a:noFill/>
          <a:ln>
            <a:noFill/>
          </a:ln>
        </p:spPr>
      </p:pic>
      <p:pic>
        <p:nvPicPr>
          <p:cNvPr id="206" name="Google Shape;206;p20" descr="image.png"/>
          <p:cNvPicPr preferRelativeResize="0"/>
          <p:nvPr/>
        </p:nvPicPr>
        <p:blipFill rotWithShape="1">
          <a:blip r:embed="rId3"/>
          <a:srcRect/>
          <a:stretch>
            <a:fillRect/>
          </a:stretch>
        </p:blipFill>
        <p:spPr>
          <a:xfrm>
            <a:off x="910525" y="5269225"/>
            <a:ext cx="4552950" cy="781050"/>
          </a:xfrm>
          <a:prstGeom prst="rect">
            <a:avLst/>
          </a:prstGeom>
          <a:noFill/>
          <a:ln>
            <a:noFill/>
          </a:ln>
        </p:spPr>
      </p:pic>
      <p:pic>
        <p:nvPicPr>
          <p:cNvPr id="207" name="Google Shape;207;p20" descr="image.png"/>
          <p:cNvPicPr preferRelativeResize="0"/>
          <p:nvPr/>
        </p:nvPicPr>
        <p:blipFill rotWithShape="1">
          <a:blip r:embed="rId4"/>
          <a:srcRect/>
          <a:stretch>
            <a:fillRect/>
          </a:stretch>
        </p:blipFill>
        <p:spPr>
          <a:xfrm>
            <a:off x="6286500" y="1647825"/>
            <a:ext cx="5334000" cy="1990725"/>
          </a:xfrm>
          <a:prstGeom prst="rect">
            <a:avLst/>
          </a:prstGeom>
          <a:noFill/>
          <a:ln>
            <a:noFill/>
          </a:ln>
        </p:spPr>
      </p:pic>
      <p:pic>
        <p:nvPicPr>
          <p:cNvPr id="208" name="Google Shape;208;p20" descr="image.png"/>
          <p:cNvPicPr preferRelativeResize="0"/>
          <p:nvPr/>
        </p:nvPicPr>
        <p:blipFill rotWithShape="1">
          <a:blip r:embed="rId5"/>
          <a:srcRect/>
          <a:stretch>
            <a:fillRect/>
          </a:stretch>
        </p:blipFill>
        <p:spPr>
          <a:xfrm>
            <a:off x="6286500" y="3924300"/>
            <a:ext cx="5334000" cy="2714625"/>
          </a:xfrm>
          <a:prstGeom prst="rect">
            <a:avLst/>
          </a:prstGeom>
          <a:noFill/>
          <a:ln>
            <a:noFill/>
          </a:ln>
        </p:spPr>
      </p:pic>
      <p:sp>
        <p:nvSpPr>
          <p:cNvPr id="209" name="Google Shape;209;p20"/>
          <p:cNvSpPr txBox="1"/>
          <p:nvPr/>
        </p:nvSpPr>
        <p:spPr>
          <a:xfrm>
            <a:off x="1266825" y="2038350"/>
            <a:ext cx="4248300" cy="231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u="none" strike="noStrike" cap="none">
                <a:solidFill>
                  <a:srgbClr val="00A3AD"/>
                </a:solidFill>
                <a:latin typeface="Poppins SemiBold" panose="00000500000000000000"/>
                <a:ea typeface="Poppins SemiBold" panose="00000500000000000000"/>
                <a:cs typeface="Poppins SemiBold" panose="00000500000000000000"/>
                <a:sym typeface="Poppins SemiBold" panose="00000500000000000000"/>
              </a:rPr>
              <a:t>Market Assumptions</a:t>
            </a:r>
            <a:endParaRPr lang="en-US" sz="1500" b="0" i="0" u="none" strike="noStrike" cap="none">
              <a:solidFill>
                <a:srgbClr val="00A3AD"/>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10" name="Google Shape;210;p20"/>
          <p:cNvSpPr txBox="1"/>
          <p:nvPr/>
        </p:nvSpPr>
        <p:spPr>
          <a:xfrm>
            <a:off x="962025" y="2705100"/>
            <a:ext cx="4553100" cy="18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64748B"/>
                </a:solidFill>
                <a:latin typeface="Lato" panose="020F0502020204030203"/>
                <a:ea typeface="Lato" panose="020F0502020204030203"/>
                <a:cs typeface="Lato" panose="020F0502020204030203"/>
                <a:sym typeface="Lato" panose="020F0502020204030203"/>
              </a:rPr>
              <a:t>Addressable Market (U.S.)</a:t>
            </a:r>
            <a:r>
              <a:rPr lang="en-US" sz="1200" b="0" i="0" u="none" strike="noStrike" cap="none">
                <a:solidFill>
                  <a:srgbClr val="000000"/>
                </a:solidFill>
                <a:latin typeface="Lato" panose="020F0502020204030203"/>
                <a:ea typeface="Lato" panose="020F0502020204030203"/>
                <a:cs typeface="Lato" panose="020F0502020204030203"/>
                <a:sym typeface="Lato" panose="020F0502020204030203"/>
              </a:rPr>
              <a:t> </a:t>
            </a:r>
            <a:r>
              <a:rPr lang="en-US" sz="1200" b="1" i="0" u="none" strike="noStrike" cap="none">
                <a:solidFill>
                  <a:srgbClr val="0F172A"/>
                </a:solidFill>
                <a:latin typeface="Lato" panose="020F0502020204030203"/>
                <a:ea typeface="Lato" panose="020F0502020204030203"/>
                <a:cs typeface="Lato" panose="020F0502020204030203"/>
                <a:sym typeface="Lato" panose="020F0502020204030203"/>
              </a:rPr>
              <a:t>16 Million</a:t>
            </a:r>
            <a:endParaRPr lang="en-US" sz="1200" b="1" i="0" u="none" strike="noStrike" cap="none">
              <a:solidFill>
                <a:srgbClr val="0F172A"/>
              </a:solidFill>
              <a:latin typeface="Lato" panose="020F0502020204030203"/>
              <a:ea typeface="Lato" panose="020F0502020204030203"/>
              <a:cs typeface="Lato" panose="020F0502020204030203"/>
              <a:sym typeface="Lato" panose="020F0502020204030203"/>
            </a:endParaRPr>
          </a:p>
        </p:txBody>
      </p:sp>
      <p:sp>
        <p:nvSpPr>
          <p:cNvPr id="211" name="Google Shape;211;p20"/>
          <p:cNvSpPr/>
          <p:nvPr/>
        </p:nvSpPr>
        <p:spPr>
          <a:xfrm>
            <a:off x="962025" y="3305175"/>
            <a:ext cx="4553100" cy="96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2" name="Google Shape;212;p20"/>
          <p:cNvSpPr txBox="1"/>
          <p:nvPr/>
        </p:nvSpPr>
        <p:spPr>
          <a:xfrm>
            <a:off x="962025" y="3457575"/>
            <a:ext cx="4553100" cy="18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64748B"/>
                </a:solidFill>
                <a:latin typeface="Lato" panose="020F0502020204030203"/>
                <a:ea typeface="Lato" panose="020F0502020204030203"/>
                <a:cs typeface="Lato" panose="020F0502020204030203"/>
                <a:sym typeface="Lato" panose="020F0502020204030203"/>
              </a:rPr>
              <a:t>Price per Treatment</a:t>
            </a:r>
            <a:r>
              <a:rPr lang="en-US" sz="1200" b="0" i="0" u="none" strike="noStrike" cap="none">
                <a:solidFill>
                  <a:srgbClr val="000000"/>
                </a:solidFill>
                <a:latin typeface="Lato" panose="020F0502020204030203"/>
                <a:ea typeface="Lato" panose="020F0502020204030203"/>
                <a:cs typeface="Lato" panose="020F0502020204030203"/>
                <a:sym typeface="Lato" panose="020F0502020204030203"/>
              </a:rPr>
              <a:t> </a:t>
            </a:r>
            <a:r>
              <a:rPr lang="en-US" sz="1200" b="1" i="0" u="none" strike="noStrike" cap="none">
                <a:solidFill>
                  <a:srgbClr val="0F172A"/>
                </a:solidFill>
                <a:latin typeface="Lato" panose="020F0502020204030203"/>
                <a:ea typeface="Lato" panose="020F0502020204030203"/>
                <a:cs typeface="Lato" panose="020F0502020204030203"/>
                <a:sym typeface="Lato" panose="020F0502020204030203"/>
              </a:rPr>
              <a:t>$150</a:t>
            </a:r>
            <a:endParaRPr lang="en-US" sz="1200" b="1" i="0" u="none" strike="noStrike" cap="none">
              <a:solidFill>
                <a:srgbClr val="0F172A"/>
              </a:solidFill>
              <a:latin typeface="Lato" panose="020F0502020204030203"/>
              <a:ea typeface="Lato" panose="020F0502020204030203"/>
              <a:cs typeface="Lato" panose="020F0502020204030203"/>
              <a:sym typeface="Lato" panose="020F0502020204030203"/>
            </a:endParaRPr>
          </a:p>
        </p:txBody>
      </p:sp>
      <p:sp>
        <p:nvSpPr>
          <p:cNvPr id="213" name="Google Shape;213;p20"/>
          <p:cNvSpPr/>
          <p:nvPr/>
        </p:nvSpPr>
        <p:spPr>
          <a:xfrm>
            <a:off x="962025" y="4057650"/>
            <a:ext cx="4553100" cy="96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4" name="Google Shape;214;p20"/>
          <p:cNvSpPr txBox="1"/>
          <p:nvPr/>
        </p:nvSpPr>
        <p:spPr>
          <a:xfrm>
            <a:off x="962025" y="4210050"/>
            <a:ext cx="4553100" cy="18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64748B"/>
                </a:solidFill>
                <a:latin typeface="Lato" panose="020F0502020204030203"/>
                <a:ea typeface="Lato" panose="020F0502020204030203"/>
                <a:cs typeface="Lato" panose="020F0502020204030203"/>
                <a:sym typeface="Lato" panose="020F0502020204030203"/>
              </a:rPr>
              <a:t>Market Penetration Target</a:t>
            </a:r>
            <a:r>
              <a:rPr lang="en-US" sz="1200" b="0" i="0" u="none" strike="noStrike" cap="none">
                <a:solidFill>
                  <a:srgbClr val="000000"/>
                </a:solidFill>
                <a:latin typeface="Lato" panose="020F0502020204030203"/>
                <a:ea typeface="Lato" panose="020F0502020204030203"/>
                <a:cs typeface="Lato" panose="020F0502020204030203"/>
                <a:sym typeface="Lato" panose="020F0502020204030203"/>
              </a:rPr>
              <a:t> </a:t>
            </a:r>
            <a:r>
              <a:rPr lang="en-US" sz="1200" b="1" i="0" u="none" strike="noStrike" cap="none">
                <a:solidFill>
                  <a:srgbClr val="0F172A"/>
                </a:solidFill>
                <a:latin typeface="Lato" panose="020F0502020204030203"/>
                <a:ea typeface="Lato" panose="020F0502020204030203"/>
                <a:cs typeface="Lato" panose="020F0502020204030203"/>
                <a:sym typeface="Lato" panose="020F0502020204030203"/>
              </a:rPr>
              <a:t>10%</a:t>
            </a:r>
            <a:endParaRPr lang="en-US" sz="1200" b="1" i="0" u="none" strike="noStrike" cap="none">
              <a:solidFill>
                <a:srgbClr val="0F172A"/>
              </a:solidFill>
              <a:latin typeface="Lato" panose="020F0502020204030203"/>
              <a:ea typeface="Lato" panose="020F0502020204030203"/>
              <a:cs typeface="Lato" panose="020F0502020204030203"/>
              <a:sym typeface="Lato" panose="020F0502020204030203"/>
            </a:endParaRPr>
          </a:p>
        </p:txBody>
      </p:sp>
      <p:sp>
        <p:nvSpPr>
          <p:cNvPr id="215" name="Google Shape;215;p20"/>
          <p:cNvSpPr txBox="1"/>
          <p:nvPr/>
        </p:nvSpPr>
        <p:spPr>
          <a:xfrm>
            <a:off x="6677025" y="2038350"/>
            <a:ext cx="4553100" cy="18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64748B"/>
                </a:solidFill>
                <a:latin typeface="Lato" panose="020F0502020204030203"/>
                <a:ea typeface="Lato" panose="020F0502020204030203"/>
                <a:cs typeface="Lato" panose="020F0502020204030203"/>
                <a:sym typeface="Lato" panose="020F0502020204030203"/>
              </a:rPr>
              <a:t>Peak-Sales Multiple</a:t>
            </a:r>
            <a:r>
              <a:rPr lang="en-US" sz="1200" b="0" i="0" u="none" strike="noStrike" cap="none">
                <a:solidFill>
                  <a:srgbClr val="000000"/>
                </a:solidFill>
                <a:latin typeface="Lato" panose="020F0502020204030203"/>
                <a:ea typeface="Lato" panose="020F0502020204030203"/>
                <a:cs typeface="Lato" panose="020F0502020204030203"/>
                <a:sym typeface="Lato" panose="020F0502020204030203"/>
              </a:rPr>
              <a:t> </a:t>
            </a:r>
            <a:r>
              <a:rPr lang="en-US" sz="1200" b="1" i="0" u="none" strike="noStrike" cap="none">
                <a:solidFill>
                  <a:srgbClr val="0F172A"/>
                </a:solidFill>
                <a:latin typeface="Lato" panose="020F0502020204030203"/>
                <a:ea typeface="Lato" panose="020F0502020204030203"/>
                <a:cs typeface="Lato" panose="020F0502020204030203"/>
                <a:sym typeface="Lato" panose="020F0502020204030203"/>
              </a:rPr>
              <a:t>3.0x</a:t>
            </a:r>
            <a:endParaRPr lang="en-US" sz="1200" b="1" i="0" u="none" strike="noStrike" cap="none">
              <a:solidFill>
                <a:srgbClr val="0F172A"/>
              </a:solidFill>
              <a:latin typeface="Lato" panose="020F0502020204030203"/>
              <a:ea typeface="Lato" panose="020F0502020204030203"/>
              <a:cs typeface="Lato" panose="020F0502020204030203"/>
              <a:sym typeface="Lato" panose="020F0502020204030203"/>
            </a:endParaRPr>
          </a:p>
        </p:txBody>
      </p:sp>
      <p:sp>
        <p:nvSpPr>
          <p:cNvPr id="216" name="Google Shape;216;p20"/>
          <p:cNvSpPr/>
          <p:nvPr/>
        </p:nvSpPr>
        <p:spPr>
          <a:xfrm>
            <a:off x="6677025" y="2638425"/>
            <a:ext cx="4553100" cy="96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7" name="Google Shape;217;p20"/>
          <p:cNvSpPr txBox="1"/>
          <p:nvPr/>
        </p:nvSpPr>
        <p:spPr>
          <a:xfrm>
            <a:off x="6677025" y="2790825"/>
            <a:ext cx="4553100" cy="18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64748B"/>
                </a:solidFill>
                <a:latin typeface="Lato" panose="020F0502020204030203"/>
                <a:ea typeface="Lato" panose="020F0502020204030203"/>
                <a:cs typeface="Lato" panose="020F0502020204030203"/>
                <a:sym typeface="Lato" panose="020F0502020204030203"/>
              </a:rPr>
              <a:t>De-Risked Enterprise Value</a:t>
            </a:r>
            <a:r>
              <a:rPr lang="en-US" sz="1200" b="0" i="0" u="none" strike="noStrike" cap="none">
                <a:solidFill>
                  <a:srgbClr val="000000"/>
                </a:solidFill>
                <a:latin typeface="Lato" panose="020F0502020204030203"/>
                <a:ea typeface="Lato" panose="020F0502020204030203"/>
                <a:cs typeface="Lato" panose="020F0502020204030203"/>
                <a:sym typeface="Lato" panose="020F0502020204030203"/>
              </a:rPr>
              <a:t> </a:t>
            </a:r>
            <a:r>
              <a:rPr lang="en-US" sz="1200" b="1" i="0" u="none" strike="noStrike" cap="none">
                <a:solidFill>
                  <a:srgbClr val="0F172A"/>
                </a:solidFill>
                <a:latin typeface="Lato" panose="020F0502020204030203"/>
                <a:ea typeface="Lato" panose="020F0502020204030203"/>
                <a:cs typeface="Lato" panose="020F0502020204030203"/>
                <a:sym typeface="Lato" panose="020F0502020204030203"/>
              </a:rPr>
              <a:t>$720M</a:t>
            </a:r>
            <a:endParaRPr lang="en-US" sz="1200" b="1" i="0" u="none" strike="noStrike" cap="none">
              <a:solidFill>
                <a:srgbClr val="0F172A"/>
              </a:solidFill>
              <a:latin typeface="Lato" panose="020F0502020204030203"/>
              <a:ea typeface="Lato" panose="020F0502020204030203"/>
              <a:cs typeface="Lato" panose="020F0502020204030203"/>
              <a:sym typeface="Lato" panose="020F0502020204030203"/>
            </a:endParaRPr>
          </a:p>
        </p:txBody>
      </p:sp>
      <p:sp>
        <p:nvSpPr>
          <p:cNvPr id="218" name="Google Shape;218;p20"/>
          <p:cNvSpPr txBox="1"/>
          <p:nvPr/>
        </p:nvSpPr>
        <p:spPr>
          <a:xfrm>
            <a:off x="7353300" y="4400550"/>
            <a:ext cx="3200400" cy="207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FFFFFF"/>
                </a:solidFill>
                <a:latin typeface="Lato" panose="020F0502020204030203"/>
                <a:ea typeface="Lato" panose="020F0502020204030203"/>
                <a:cs typeface="Lato" panose="020F0502020204030203"/>
                <a:sym typeface="Lato" panose="020F0502020204030203"/>
              </a:rPr>
              <a:t>CURRENT RISK-ADJUSTED VALUE</a:t>
            </a:r>
            <a:endParaRPr lang="en-US" sz="1350" b="0" i="0" u="none" strike="noStrike" cap="none">
              <a:solidFill>
                <a:srgbClr val="FFFFFF"/>
              </a:solidFill>
              <a:latin typeface="Lato" panose="020F0502020204030203"/>
              <a:ea typeface="Lato" panose="020F0502020204030203"/>
              <a:cs typeface="Lato" panose="020F0502020204030203"/>
              <a:sym typeface="Lato" panose="020F0502020204030203"/>
            </a:endParaRPr>
          </a:p>
        </p:txBody>
      </p:sp>
      <p:sp>
        <p:nvSpPr>
          <p:cNvPr id="219" name="Google Shape;219;p20"/>
          <p:cNvSpPr txBox="1"/>
          <p:nvPr/>
        </p:nvSpPr>
        <p:spPr>
          <a:xfrm>
            <a:off x="6812771" y="4704413"/>
            <a:ext cx="4281600" cy="1154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500" b="1" i="0" u="none" strike="noStrike" cap="none">
                <a:solidFill>
                  <a:srgbClr val="FFFFFF"/>
                </a:solidFill>
                <a:latin typeface="Poppins" panose="00000500000000000000"/>
                <a:ea typeface="Poppins" panose="00000500000000000000"/>
                <a:cs typeface="Poppins" panose="00000500000000000000"/>
                <a:sym typeface="Poppins" panose="00000500000000000000"/>
              </a:rPr>
              <a:t>~$70M</a:t>
            </a:r>
            <a:endParaRPr lang="en-US" sz="7500" b="1" i="0" u="none" strike="noStrike" cap="none">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20" name="Google Shape;220;p20"/>
          <p:cNvSpPr txBox="1"/>
          <p:nvPr/>
        </p:nvSpPr>
        <p:spPr>
          <a:xfrm>
            <a:off x="7200900" y="5800725"/>
            <a:ext cx="35052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CBD5E1"/>
                </a:solidFill>
                <a:latin typeface="Lato" panose="020F0502020204030203"/>
                <a:ea typeface="Lato" panose="020F0502020204030203"/>
                <a:cs typeface="Lato" panose="020F0502020204030203"/>
                <a:sym typeface="Lato" panose="020F0502020204030203"/>
              </a:rPr>
              <a:t>Derived from 10% Preclinical Stage Risk-Adjustment (rNPV)</a:t>
            </a:r>
            <a:endParaRPr lang="en-US" sz="1200" b="0" i="0" u="none" strike="noStrike" cap="none">
              <a:solidFill>
                <a:srgbClr val="CBD5E1"/>
              </a:solidFill>
              <a:latin typeface="Lato" panose="020F0502020204030203"/>
              <a:ea typeface="Lato" panose="020F0502020204030203"/>
              <a:cs typeface="Lato" panose="020F0502020204030203"/>
              <a:sym typeface="Lato" panose="020F0502020204030203"/>
            </a:endParaRPr>
          </a:p>
        </p:txBody>
      </p:sp>
      <p:pic>
        <p:nvPicPr>
          <p:cNvPr id="221" name="Google Shape;221;p20" descr="image.png"/>
          <p:cNvPicPr preferRelativeResize="0"/>
          <p:nvPr/>
        </p:nvPicPr>
        <p:blipFill rotWithShape="1">
          <a:blip r:embed="rId6"/>
          <a:srcRect/>
          <a:stretch>
            <a:fillRect/>
          </a:stretch>
        </p:blipFill>
        <p:spPr>
          <a:xfrm>
            <a:off x="962025" y="2085975"/>
            <a:ext cx="190500" cy="190500"/>
          </a:xfrm>
          <a:prstGeom prst="rect">
            <a:avLst/>
          </a:prstGeom>
          <a:noFill/>
          <a:ln>
            <a:noFill/>
          </a:ln>
        </p:spPr>
      </p:pic>
      <p:sp>
        <p:nvSpPr>
          <p:cNvPr id="222" name="Google Shape;222;p20"/>
          <p:cNvSpPr txBox="1"/>
          <p:nvPr/>
        </p:nvSpPr>
        <p:spPr>
          <a:xfrm>
            <a:off x="762000" y="571500"/>
            <a:ext cx="114015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a:solidFill>
                  <a:srgbClr val="0F172A"/>
                </a:solidFill>
                <a:latin typeface="Poppins" panose="00000500000000000000"/>
                <a:ea typeface="Poppins" panose="00000500000000000000"/>
                <a:cs typeface="Poppins" panose="00000500000000000000"/>
                <a:sym typeface="Poppins" panose="00000500000000000000"/>
              </a:rPr>
              <a:t>Single Indication </a:t>
            </a:r>
            <a:r>
              <a:rPr lang="en-US" sz="3150" b="1" i="0" u="none" strike="noStrike" cap="none">
                <a:solidFill>
                  <a:srgbClr val="0F172A"/>
                </a:solidFill>
                <a:latin typeface="Poppins" panose="00000500000000000000"/>
                <a:ea typeface="Poppins" panose="00000500000000000000"/>
                <a:cs typeface="Poppins" panose="00000500000000000000"/>
                <a:sym typeface="Poppins" panose="00000500000000000000"/>
              </a:rPr>
              <a:t>Valuation Model</a:t>
            </a:r>
            <a:endParaRPr lang="en-US" sz="315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p:txBody>
      </p:sp>
      <p:sp>
        <p:nvSpPr>
          <p:cNvPr id="223" name="Google Shape;223;p20"/>
          <p:cNvSpPr/>
          <p:nvPr/>
        </p:nvSpPr>
        <p:spPr>
          <a:xfrm>
            <a:off x="571500" y="571500"/>
            <a:ext cx="76200" cy="600000"/>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5" name="Google Shape;225;p20"/>
          <p:cNvSpPr txBox="1"/>
          <p:nvPr/>
        </p:nvSpPr>
        <p:spPr>
          <a:xfrm>
            <a:off x="581025" y="6664565"/>
            <a:ext cx="110301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1" u="none" strike="noStrike" cap="none">
                <a:solidFill>
                  <a:srgbClr val="64748B"/>
                </a:solidFill>
                <a:latin typeface="Lato" panose="020F0502020204030203"/>
                <a:ea typeface="Lato" panose="020F0502020204030203"/>
                <a:cs typeface="Lato" panose="020F0502020204030203"/>
                <a:sym typeface="Lato" panose="020F0502020204030203"/>
              </a:rPr>
              <a:t> * Valuation excludes pipeline expansion into Dermatology and global market royalty streams. Derived using standard biotech rNPV modeling. </a:t>
            </a:r>
            <a:endParaRPr lang="en-US" sz="1050" b="0" i="1" u="none" strike="noStrike" cap="none">
              <a:solidFill>
                <a:srgbClr val="64748B"/>
              </a:solidFill>
              <a:latin typeface="Lato" panose="020F0502020204030203"/>
              <a:ea typeface="Lato" panose="020F0502020204030203"/>
              <a:cs typeface="Lato" panose="020F0502020204030203"/>
              <a:sym typeface="Lato" panose="020F0502020204030203"/>
            </a:endParaRPr>
          </a:p>
        </p:txBody>
      </p:sp>
      <p:pic>
        <p:nvPicPr>
          <p:cNvPr id="195" name="Google Shape;195;p19" title="letter head.png"/>
          <p:cNvPicPr preferRelativeResize="0"/>
          <p:nvPr/>
        </p:nvPicPr>
        <p:blipFill>
          <a:blip r:embed="rId7"/>
          <a:stretch>
            <a:fillRect/>
          </a:stretch>
        </p:blipFill>
        <p:spPr>
          <a:xfrm>
            <a:off x="9845325" y="0"/>
            <a:ext cx="2346676" cy="408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29" name="Shape 229"/>
        <p:cNvGrpSpPr/>
        <p:nvPr/>
      </p:nvGrpSpPr>
      <p:grpSpPr>
        <a:xfrm>
          <a:off x="0" y="0"/>
          <a:ext cx="0" cy="0"/>
          <a:chOff x="0" y="0"/>
          <a:chExt cx="0" cy="0"/>
        </a:xfrm>
      </p:grpSpPr>
      <p:pic>
        <p:nvPicPr>
          <p:cNvPr id="230" name="Google Shape;230;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31" name="Google Shape;231;p21" descr="image.png"/>
          <p:cNvPicPr preferRelativeResize="0"/>
          <p:nvPr/>
        </p:nvPicPr>
        <p:blipFill rotWithShape="1">
          <a:blip r:embed="rId2"/>
          <a:srcRect/>
          <a:stretch>
            <a:fillRect/>
          </a:stretch>
        </p:blipFill>
        <p:spPr>
          <a:xfrm>
            <a:off x="762000" y="2117322"/>
            <a:ext cx="10668000" cy="3619500"/>
          </a:xfrm>
          <a:prstGeom prst="rect">
            <a:avLst/>
          </a:prstGeom>
          <a:noFill/>
          <a:ln>
            <a:noFill/>
          </a:ln>
        </p:spPr>
      </p:pic>
      <p:sp>
        <p:nvSpPr>
          <p:cNvPr id="232" name="Google Shape;232;p21"/>
          <p:cNvSpPr txBox="1"/>
          <p:nvPr/>
        </p:nvSpPr>
        <p:spPr>
          <a:xfrm>
            <a:off x="5590540" y="5736590"/>
            <a:ext cx="1104900" cy="46101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00" b="1" i="0" u="none" strike="noStrike" cap="none">
                <a:solidFill>
                  <a:srgbClr val="00A3AD"/>
                </a:solidFill>
                <a:latin typeface="Lato" panose="020F0502020204030203"/>
                <a:ea typeface="Lato" panose="020F0502020204030203"/>
                <a:cs typeface="Lato" panose="020F0502020204030203"/>
                <a:sym typeface="Lato" panose="020F0502020204030203"/>
              </a:rPr>
              <a:t>83%</a:t>
            </a:r>
            <a:r>
              <a:rPr lang="en-US" sz="1200" b="0" i="0" u="none" strike="noStrike" cap="none">
                <a:solidFill>
                  <a:srgbClr val="000000"/>
                </a:solidFill>
                <a:latin typeface="Lato" panose="020F0502020204030203"/>
                <a:ea typeface="Lato" panose="020F0502020204030203"/>
                <a:cs typeface="Lato" panose="020F0502020204030203"/>
                <a:sym typeface="Lato" panose="020F0502020204030203"/>
              </a:rPr>
              <a:t> </a:t>
            </a:r>
            <a:r>
              <a:rPr lang="en-US" sz="1200" b="0" i="0" u="none" strike="noStrike" cap="none">
                <a:solidFill>
                  <a:srgbClr val="94A3B8"/>
                </a:solidFill>
                <a:latin typeface="Lato" panose="020F0502020204030203"/>
                <a:ea typeface="Lato" panose="020F0502020204030203"/>
                <a:cs typeface="Lato" panose="020F0502020204030203"/>
                <a:sym typeface="Lato" panose="020F0502020204030203"/>
              </a:rPr>
              <a:t>Direct R&amp;D Spend</a:t>
            </a:r>
            <a:endParaRPr lang="en-US" sz="1200" b="0" i="0" u="none" strike="noStrike" cap="none">
              <a:solidFill>
                <a:srgbClr val="94A3B8"/>
              </a:solidFill>
              <a:latin typeface="Lato" panose="020F0502020204030203"/>
              <a:ea typeface="Lato" panose="020F0502020204030203"/>
              <a:cs typeface="Lato" panose="020F0502020204030203"/>
              <a:sym typeface="Lato" panose="020F0502020204030203"/>
            </a:endParaRPr>
          </a:p>
        </p:txBody>
      </p:sp>
      <p:sp>
        <p:nvSpPr>
          <p:cNvPr id="233" name="Google Shape;233;p21"/>
          <p:cNvSpPr txBox="1"/>
          <p:nvPr/>
        </p:nvSpPr>
        <p:spPr>
          <a:xfrm>
            <a:off x="7694930" y="5736590"/>
            <a:ext cx="1151890" cy="55308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00" b="1" i="0" u="none" strike="noStrike" cap="none">
                <a:solidFill>
                  <a:srgbClr val="00A3AD"/>
                </a:solidFill>
                <a:latin typeface="Lato" panose="020F0502020204030203"/>
                <a:ea typeface="Lato" panose="020F0502020204030203"/>
                <a:cs typeface="Lato" panose="020F0502020204030203"/>
                <a:sym typeface="Lato" panose="020F0502020204030203"/>
              </a:rPr>
              <a:t>24 MO</a:t>
            </a:r>
            <a:r>
              <a:rPr lang="en-US" sz="1200" b="0" i="0" u="none" strike="noStrike" cap="none">
                <a:solidFill>
                  <a:srgbClr val="000000"/>
                </a:solidFill>
                <a:latin typeface="Lato" panose="020F0502020204030203"/>
                <a:ea typeface="Lato" panose="020F0502020204030203"/>
                <a:cs typeface="Lato" panose="020F0502020204030203"/>
                <a:sym typeface="Lato" panose="020F0502020204030203"/>
              </a:rPr>
              <a:t> </a:t>
            </a:r>
            <a:r>
              <a:rPr lang="en-US" sz="1200" b="0" i="0" u="none" strike="noStrike" cap="none">
                <a:solidFill>
                  <a:srgbClr val="94A3B8"/>
                </a:solidFill>
                <a:latin typeface="Lato" panose="020F0502020204030203"/>
                <a:ea typeface="Lato" panose="020F0502020204030203"/>
                <a:cs typeface="Lato" panose="020F0502020204030203"/>
                <a:sym typeface="Lato" panose="020F0502020204030203"/>
              </a:rPr>
              <a:t>Funding Runway</a:t>
            </a:r>
            <a:endParaRPr lang="en-US" sz="1200" b="0" i="0" u="none" strike="noStrike" cap="none">
              <a:solidFill>
                <a:srgbClr val="94A3B8"/>
              </a:solidFill>
              <a:latin typeface="Lato" panose="020F0502020204030203"/>
              <a:ea typeface="Lato" panose="020F0502020204030203"/>
              <a:cs typeface="Lato" panose="020F0502020204030203"/>
              <a:sym typeface="Lato" panose="020F0502020204030203"/>
            </a:endParaRPr>
          </a:p>
        </p:txBody>
      </p:sp>
      <p:sp>
        <p:nvSpPr>
          <p:cNvPr id="234" name="Google Shape;234;p21"/>
          <p:cNvSpPr txBox="1"/>
          <p:nvPr/>
        </p:nvSpPr>
        <p:spPr>
          <a:xfrm>
            <a:off x="9640570" y="5736590"/>
            <a:ext cx="1152525" cy="57721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00" b="1" i="0" u="none" strike="noStrike" cap="none">
                <a:solidFill>
                  <a:srgbClr val="00A3AD"/>
                </a:solidFill>
                <a:latin typeface="Lato" panose="020F0502020204030203"/>
                <a:ea typeface="Lato" panose="020F0502020204030203"/>
                <a:cs typeface="Lato" panose="020F0502020204030203"/>
                <a:sym typeface="Lato" panose="020F0502020204030203"/>
              </a:rPr>
              <a:t>505(b)(2)</a:t>
            </a:r>
            <a:r>
              <a:rPr lang="en-US" sz="1200" b="0" i="0" u="none" strike="noStrike" cap="none">
                <a:solidFill>
                  <a:srgbClr val="000000"/>
                </a:solidFill>
                <a:latin typeface="Lato" panose="020F0502020204030203"/>
                <a:ea typeface="Lato" panose="020F0502020204030203"/>
                <a:cs typeface="Lato" panose="020F0502020204030203"/>
                <a:sym typeface="Lato" panose="020F0502020204030203"/>
              </a:rPr>
              <a:t> </a:t>
            </a:r>
            <a:r>
              <a:rPr lang="en-US" sz="1200" b="0" i="0" u="none" strike="noStrike" cap="none">
                <a:solidFill>
                  <a:srgbClr val="94A3B8"/>
                </a:solidFill>
                <a:latin typeface="Lato" panose="020F0502020204030203"/>
                <a:ea typeface="Lato" panose="020F0502020204030203"/>
                <a:cs typeface="Lato" panose="020F0502020204030203"/>
                <a:sym typeface="Lato" panose="020F0502020204030203"/>
              </a:rPr>
              <a:t>FDA Pathway</a:t>
            </a:r>
            <a:endParaRPr lang="en-US" sz="1200" b="0" i="0" u="none" strike="noStrike" cap="none">
              <a:solidFill>
                <a:srgbClr val="94A3B8"/>
              </a:solidFill>
              <a:latin typeface="Lato" panose="020F0502020204030203"/>
              <a:ea typeface="Lato" panose="020F0502020204030203"/>
              <a:cs typeface="Lato" panose="020F0502020204030203"/>
              <a:sym typeface="Lato" panose="020F0502020204030203"/>
            </a:endParaRPr>
          </a:p>
        </p:txBody>
      </p:sp>
      <p:sp>
        <p:nvSpPr>
          <p:cNvPr id="236" name="Google Shape;236;p21"/>
          <p:cNvSpPr txBox="1"/>
          <p:nvPr/>
        </p:nvSpPr>
        <p:spPr>
          <a:xfrm>
            <a:off x="762000" y="1634234"/>
            <a:ext cx="52770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64748B"/>
                </a:solidFill>
                <a:latin typeface="Lato" panose="020F0502020204030203"/>
                <a:ea typeface="Lato" panose="020F0502020204030203"/>
                <a:cs typeface="Lato" panose="020F0502020204030203"/>
                <a:sym typeface="Lato" panose="020F0502020204030203"/>
              </a:rPr>
              <a:t>Strategic deployment of capital toward human clinical</a:t>
            </a:r>
            <a:endParaRPr lang="en-US" sz="1350" b="0" i="0" u="none" strike="noStrike" cap="none">
              <a:solidFill>
                <a:srgbClr val="64748B"/>
              </a:solidFill>
              <a:latin typeface="Lato" panose="020F0502020204030203"/>
              <a:ea typeface="Lato" panose="020F0502020204030203"/>
              <a:cs typeface="Lato" panose="020F0502020204030203"/>
              <a:sym typeface="Lato" panose="020F0502020204030203"/>
            </a:endParaRPr>
          </a:p>
        </p:txBody>
      </p:sp>
      <p:sp>
        <p:nvSpPr>
          <p:cNvPr id="237" name="Google Shape;237;p21"/>
          <p:cNvSpPr txBox="1"/>
          <p:nvPr/>
        </p:nvSpPr>
        <p:spPr>
          <a:xfrm>
            <a:off x="5590349" y="1544752"/>
            <a:ext cx="4812900" cy="39814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405" b="1">
                <a:solidFill>
                  <a:srgbClr val="002147"/>
                </a:solidFill>
                <a:latin typeface="Poppins" panose="00000500000000000000"/>
                <a:ea typeface="Poppins" panose="00000500000000000000"/>
                <a:cs typeface="Poppins" panose="00000500000000000000"/>
                <a:sym typeface="Poppins" panose="00000500000000000000"/>
              </a:rPr>
              <a:t>Capital Required: ~$7M , for 10% equity</a:t>
            </a:r>
            <a:endParaRPr lang="en-US" sz="1405" b="1">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238" name="Google Shape;238;p21"/>
          <p:cNvSpPr txBox="1"/>
          <p:nvPr/>
        </p:nvSpPr>
        <p:spPr>
          <a:xfrm>
            <a:off x="2547425" y="3517030"/>
            <a:ext cx="1527600" cy="8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500" b="1">
                <a:solidFill>
                  <a:srgbClr val="9FC5E8"/>
                </a:solidFill>
                <a:latin typeface="Poppins" panose="00000500000000000000"/>
                <a:ea typeface="Poppins" panose="00000500000000000000"/>
                <a:cs typeface="Poppins" panose="00000500000000000000"/>
                <a:sym typeface="Poppins" panose="00000500000000000000"/>
              </a:rPr>
              <a:t>Total Capital</a:t>
            </a:r>
            <a:endParaRPr sz="1500" b="1">
              <a:solidFill>
                <a:srgbClr val="9FC5E8"/>
              </a:solidFill>
              <a:latin typeface="Poppins" panose="00000500000000000000"/>
              <a:ea typeface="Poppins" panose="00000500000000000000"/>
              <a:cs typeface="Poppins" panose="00000500000000000000"/>
              <a:sym typeface="Poppins" panose="00000500000000000000"/>
            </a:endParaRPr>
          </a:p>
          <a:p>
            <a:pPr marL="0" lvl="0" indent="0" algn="l" rtl="0">
              <a:spcBef>
                <a:spcPts val="0"/>
              </a:spcBef>
              <a:spcAft>
                <a:spcPts val="0"/>
              </a:spcAft>
              <a:buNone/>
            </a:pPr>
            <a:r>
              <a:rPr lang="en-US" sz="2850" b="1">
                <a:solidFill>
                  <a:srgbClr val="0F172A"/>
                </a:solidFill>
                <a:latin typeface="Poppins" panose="00000500000000000000"/>
                <a:ea typeface="Poppins" panose="00000500000000000000"/>
                <a:cs typeface="Poppins" panose="00000500000000000000"/>
                <a:sym typeface="Poppins" panose="00000500000000000000"/>
              </a:rPr>
              <a:t>$7.0M</a:t>
            </a:r>
            <a:endParaRPr sz="2850" b="1">
              <a:solidFill>
                <a:srgbClr val="0F172A"/>
              </a:solidFill>
              <a:latin typeface="Poppins" panose="00000500000000000000"/>
              <a:ea typeface="Poppins" panose="00000500000000000000"/>
              <a:cs typeface="Poppins" panose="00000500000000000000"/>
              <a:sym typeface="Poppins" panose="00000500000000000000"/>
            </a:endParaRPr>
          </a:p>
        </p:txBody>
      </p:sp>
      <p:sp>
        <p:nvSpPr>
          <p:cNvPr id="239" name="Google Shape;239;p21"/>
          <p:cNvSpPr txBox="1"/>
          <p:nvPr/>
        </p:nvSpPr>
        <p:spPr>
          <a:xfrm>
            <a:off x="1079500" y="6431915"/>
            <a:ext cx="10126980" cy="4216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500" b="1" i="0" u="none" strike="noStrike" cap="none">
                <a:solidFill>
                  <a:srgbClr val="475569"/>
                </a:solidFill>
                <a:latin typeface="Lato" panose="020F0502020204030203"/>
                <a:ea typeface="Lato" panose="020F0502020204030203"/>
                <a:cs typeface="Lato" panose="020F0502020204030203"/>
                <a:sym typeface="Lato" panose="020F0502020204030203"/>
              </a:rPr>
              <a:t>Asset-Light Model:</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 Leverages high-efficiency global CDMOs/CROs to maintain a lean burn rate while maximizing IP value.</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41" name="Google Shape;241;p21"/>
          <p:cNvSpPr txBox="1"/>
          <p:nvPr/>
        </p:nvSpPr>
        <p:spPr>
          <a:xfrm>
            <a:off x="762000" y="571500"/>
            <a:ext cx="114015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Capital Ask &amp; Fund </a:t>
            </a:r>
            <a:r>
              <a:rPr lang="en-US" sz="3150" b="1">
                <a:solidFill>
                  <a:srgbClr val="002147"/>
                </a:solidFill>
                <a:latin typeface="Poppins" panose="00000500000000000000"/>
                <a:ea typeface="Poppins" panose="00000500000000000000"/>
                <a:cs typeface="Poppins" panose="00000500000000000000"/>
                <a:sym typeface="Poppins" panose="00000500000000000000"/>
              </a:rPr>
              <a:t>Allocation</a:t>
            </a:r>
            <a:endParaRPr lang="en-US" sz="3150" b="1">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242" name="Google Shape;242;p21"/>
          <p:cNvSpPr/>
          <p:nvPr/>
        </p:nvSpPr>
        <p:spPr>
          <a:xfrm>
            <a:off x="571500" y="571500"/>
            <a:ext cx="76200" cy="600000"/>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95" name="Google Shape;195;p19" title="letter head.png"/>
          <p:cNvPicPr preferRelativeResize="0"/>
          <p:nvPr/>
        </p:nvPicPr>
        <p:blipFill>
          <a:blip r:embed="rId3"/>
          <a:stretch>
            <a:fillRect/>
          </a:stretch>
        </p:blipFill>
        <p:spPr>
          <a:xfrm>
            <a:off x="9845325" y="0"/>
            <a:ext cx="2346676" cy="408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46" name="Shape 246"/>
        <p:cNvGrpSpPr/>
        <p:nvPr/>
      </p:nvGrpSpPr>
      <p:grpSpPr>
        <a:xfrm>
          <a:off x="0" y="0"/>
          <a:ext cx="0" cy="0"/>
          <a:chOff x="0" y="0"/>
          <a:chExt cx="0" cy="0"/>
        </a:xfrm>
      </p:grpSpPr>
      <p:pic>
        <p:nvPicPr>
          <p:cNvPr id="247" name="Google Shape;247;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48" name="Google Shape;248;p22" descr="image.png"/>
          <p:cNvPicPr preferRelativeResize="0"/>
          <p:nvPr>
            <p:custDataLst>
              <p:tags r:id="rId2"/>
            </p:custDataLst>
          </p:nvPr>
        </p:nvPicPr>
        <p:blipFill rotWithShape="1">
          <a:blip r:embed="rId3"/>
          <a:srcRect/>
          <a:stretch>
            <a:fillRect/>
          </a:stretch>
        </p:blipFill>
        <p:spPr>
          <a:xfrm>
            <a:off x="571500" y="2486025"/>
            <a:ext cx="3492549" cy="2867025"/>
          </a:xfrm>
          <a:prstGeom prst="rect">
            <a:avLst/>
          </a:prstGeom>
          <a:noFill/>
          <a:ln>
            <a:noFill/>
          </a:ln>
        </p:spPr>
      </p:pic>
      <p:pic>
        <p:nvPicPr>
          <p:cNvPr id="249" name="Google Shape;249;p22" descr="image.png"/>
          <p:cNvPicPr preferRelativeResize="0"/>
          <p:nvPr>
            <p:custDataLst>
              <p:tags r:id="rId4"/>
            </p:custDataLst>
          </p:nvPr>
        </p:nvPicPr>
        <p:blipFill rotWithShape="1">
          <a:blip r:embed="rId5"/>
          <a:srcRect/>
          <a:stretch>
            <a:fillRect/>
          </a:stretch>
        </p:blipFill>
        <p:spPr>
          <a:xfrm>
            <a:off x="4349799" y="2486025"/>
            <a:ext cx="3492549" cy="2867025"/>
          </a:xfrm>
          <a:prstGeom prst="rect">
            <a:avLst/>
          </a:prstGeom>
          <a:noFill/>
          <a:ln>
            <a:noFill/>
          </a:ln>
        </p:spPr>
      </p:pic>
      <p:pic>
        <p:nvPicPr>
          <p:cNvPr id="250" name="Google Shape;250;p22" descr="image.png"/>
          <p:cNvPicPr preferRelativeResize="0"/>
          <p:nvPr>
            <p:custDataLst>
              <p:tags r:id="rId6"/>
            </p:custDataLst>
          </p:nvPr>
        </p:nvPicPr>
        <p:blipFill rotWithShape="1">
          <a:blip r:embed="rId7"/>
          <a:srcRect/>
          <a:stretch>
            <a:fillRect/>
          </a:stretch>
        </p:blipFill>
        <p:spPr>
          <a:xfrm>
            <a:off x="8128099" y="2486025"/>
            <a:ext cx="3492549" cy="2867025"/>
          </a:xfrm>
          <a:prstGeom prst="rect">
            <a:avLst/>
          </a:prstGeom>
          <a:noFill/>
          <a:ln>
            <a:noFill/>
          </a:ln>
        </p:spPr>
      </p:pic>
      <p:pic>
        <p:nvPicPr>
          <p:cNvPr id="251" name="Google Shape;251;p22" descr="image.png"/>
          <p:cNvPicPr preferRelativeResize="0"/>
          <p:nvPr>
            <p:custDataLst>
              <p:tags r:id="rId8"/>
            </p:custDataLst>
          </p:nvPr>
        </p:nvPicPr>
        <p:blipFill rotWithShape="1">
          <a:blip r:embed="rId9"/>
          <a:srcRect/>
          <a:stretch>
            <a:fillRect/>
          </a:stretch>
        </p:blipFill>
        <p:spPr>
          <a:xfrm>
            <a:off x="962025" y="2876550"/>
            <a:ext cx="381000" cy="381000"/>
          </a:xfrm>
          <a:prstGeom prst="rect">
            <a:avLst/>
          </a:prstGeom>
          <a:noFill/>
          <a:ln>
            <a:noFill/>
          </a:ln>
        </p:spPr>
      </p:pic>
      <p:sp>
        <p:nvSpPr>
          <p:cNvPr id="252" name="Google Shape;252;p22"/>
          <p:cNvSpPr txBox="1"/>
          <p:nvPr>
            <p:custDataLst>
              <p:tags r:id="rId10"/>
            </p:custDataLst>
          </p:nvPr>
        </p:nvSpPr>
        <p:spPr>
          <a:xfrm>
            <a:off x="962025" y="3448050"/>
            <a:ext cx="2847074"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rPr>
              <a:t>Otology</a:t>
            </a:r>
            <a:endPar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endParaRPr>
          </a:p>
        </p:txBody>
      </p:sp>
      <p:sp>
        <p:nvSpPr>
          <p:cNvPr id="253" name="Google Shape;253;p22"/>
          <p:cNvSpPr txBox="1"/>
          <p:nvPr>
            <p:custDataLst>
              <p:tags r:id="rId11"/>
            </p:custDataLst>
          </p:nvPr>
        </p:nvSpPr>
        <p:spPr>
          <a:xfrm>
            <a:off x="962025" y="3971925"/>
            <a:ext cx="2943225" cy="12922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a:solidFill>
                  <a:srgbClr val="475569"/>
                </a:solidFill>
                <a:latin typeface="Lato" panose="020F0502020204030203"/>
                <a:ea typeface="Lato" panose="020F0502020204030203"/>
                <a:cs typeface="Lato" panose="020F0502020204030203"/>
                <a:sym typeface="Lato" panose="020F0502020204030203"/>
              </a:rPr>
              <a:t>First </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indication: Acute O</a:t>
            </a:r>
            <a:r>
              <a:rPr lang="en-US" sz="1500">
                <a:solidFill>
                  <a:srgbClr val="475569"/>
                </a:solidFill>
                <a:latin typeface="Lato" panose="020F0502020204030203"/>
                <a:ea typeface="Lato" panose="020F0502020204030203"/>
                <a:cs typeface="Lato" panose="020F0502020204030203"/>
                <a:sym typeface="Lato" panose="020F0502020204030203"/>
              </a:rPr>
              <a:t>titis </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Me</a:t>
            </a:r>
            <a:r>
              <a:rPr lang="en-US" sz="1500">
                <a:solidFill>
                  <a:srgbClr val="475569"/>
                </a:solidFill>
                <a:latin typeface="Lato" panose="020F0502020204030203"/>
                <a:ea typeface="Lato" panose="020F0502020204030203"/>
                <a:cs typeface="Lato" panose="020F0502020204030203"/>
                <a:sym typeface="Lato" panose="020F0502020204030203"/>
              </a:rPr>
              <a:t>dia</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   Potential pipelines include chronic inflammation and </a:t>
            </a:r>
            <a:r>
              <a:rPr lang="en-US" sz="1500">
                <a:solidFill>
                  <a:srgbClr val="475569"/>
                </a:solidFill>
                <a:latin typeface="Lato" panose="020F0502020204030203"/>
                <a:ea typeface="Lato" panose="020F0502020204030203"/>
                <a:cs typeface="Lato" panose="020F0502020204030203"/>
                <a:sym typeface="Lato" panose="020F0502020204030203"/>
              </a:rPr>
              <a:t>inner ear disorders</a:t>
            </a: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254" name="Google Shape;254;p22" descr="image.png"/>
          <p:cNvPicPr preferRelativeResize="0"/>
          <p:nvPr>
            <p:custDataLst>
              <p:tags r:id="rId12"/>
            </p:custDataLst>
          </p:nvPr>
        </p:nvPicPr>
        <p:blipFill rotWithShape="1">
          <a:blip r:embed="rId13"/>
          <a:srcRect/>
          <a:stretch>
            <a:fillRect/>
          </a:stretch>
        </p:blipFill>
        <p:spPr>
          <a:xfrm>
            <a:off x="4740324" y="2876550"/>
            <a:ext cx="381000" cy="381000"/>
          </a:xfrm>
          <a:prstGeom prst="rect">
            <a:avLst/>
          </a:prstGeom>
          <a:noFill/>
          <a:ln>
            <a:noFill/>
          </a:ln>
        </p:spPr>
      </p:pic>
      <p:sp>
        <p:nvSpPr>
          <p:cNvPr id="255" name="Google Shape;255;p22"/>
          <p:cNvSpPr txBox="1"/>
          <p:nvPr>
            <p:custDataLst>
              <p:tags r:id="rId14"/>
            </p:custDataLst>
          </p:nvPr>
        </p:nvSpPr>
        <p:spPr>
          <a:xfrm>
            <a:off x="4740324" y="3448050"/>
            <a:ext cx="2847074"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rPr>
              <a:t>Dermatology</a:t>
            </a:r>
            <a:endPar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endParaRPr>
          </a:p>
        </p:txBody>
      </p:sp>
      <p:sp>
        <p:nvSpPr>
          <p:cNvPr id="256" name="Google Shape;256;p22"/>
          <p:cNvSpPr txBox="1"/>
          <p:nvPr>
            <p:custDataLst>
              <p:tags r:id="rId15"/>
            </p:custDataLst>
          </p:nvPr>
        </p:nvSpPr>
        <p:spPr>
          <a:xfrm>
            <a:off x="4740275" y="3971925"/>
            <a:ext cx="2847340" cy="12922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75569"/>
                </a:solidFill>
                <a:latin typeface="Lato" panose="020F0502020204030203"/>
                <a:ea typeface="Lato" panose="020F0502020204030203"/>
                <a:cs typeface="Lato" panose="020F0502020204030203"/>
                <a:sym typeface="Lato" panose="020F0502020204030203"/>
              </a:rPr>
              <a:t>Localized drug delivery for pain management, topical therapeutic relief, and chronic inflammatory skin diseases.</a:t>
            </a:r>
            <a:endParaRPr lang="en-US"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257" name="Google Shape;257;p22" descr="image.png"/>
          <p:cNvPicPr preferRelativeResize="0"/>
          <p:nvPr>
            <p:custDataLst>
              <p:tags r:id="rId16"/>
            </p:custDataLst>
          </p:nvPr>
        </p:nvPicPr>
        <p:blipFill rotWithShape="1">
          <a:blip r:embed="rId17"/>
          <a:srcRect/>
          <a:stretch>
            <a:fillRect/>
          </a:stretch>
        </p:blipFill>
        <p:spPr>
          <a:xfrm>
            <a:off x="8518624" y="2876550"/>
            <a:ext cx="381000" cy="381000"/>
          </a:xfrm>
          <a:prstGeom prst="rect">
            <a:avLst/>
          </a:prstGeom>
          <a:noFill/>
          <a:ln>
            <a:noFill/>
          </a:ln>
        </p:spPr>
      </p:pic>
      <p:sp>
        <p:nvSpPr>
          <p:cNvPr id="258" name="Google Shape;258;p22"/>
          <p:cNvSpPr txBox="1"/>
          <p:nvPr>
            <p:custDataLst>
              <p:tags r:id="rId18"/>
            </p:custDataLst>
          </p:nvPr>
        </p:nvSpPr>
        <p:spPr>
          <a:xfrm>
            <a:off x="8518624" y="3448050"/>
            <a:ext cx="2847074"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rPr>
              <a:t>Platform Play</a:t>
            </a:r>
            <a:endParaRPr lang="en-US" sz="1800" b="1" i="0" u="none" strike="noStrike" cap="none">
              <a:solidFill>
                <a:srgbClr val="00A3AD"/>
              </a:solidFill>
              <a:latin typeface="Poppins" panose="00000500000000000000"/>
              <a:ea typeface="Poppins" panose="00000500000000000000"/>
              <a:cs typeface="Poppins" panose="00000500000000000000"/>
              <a:sym typeface="Poppins" panose="00000500000000000000"/>
            </a:endParaRPr>
          </a:p>
        </p:txBody>
      </p:sp>
      <p:sp>
        <p:nvSpPr>
          <p:cNvPr id="259" name="Google Shape;259;p22"/>
          <p:cNvSpPr txBox="1"/>
          <p:nvPr>
            <p:custDataLst>
              <p:tags r:id="rId19"/>
            </p:custDataLst>
          </p:nvPr>
        </p:nvSpPr>
        <p:spPr>
          <a:xfrm>
            <a:off x="8518525" y="3971925"/>
            <a:ext cx="3028950" cy="12922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a:solidFill>
                  <a:srgbClr val="475569"/>
                </a:solidFill>
                <a:latin typeface="Lato" panose="020F0502020204030203"/>
                <a:ea typeface="Lato" panose="020F0502020204030203"/>
                <a:cs typeface="Lato" panose="020F0502020204030203"/>
                <a:sym typeface="Lato" panose="020F0502020204030203"/>
              </a:rPr>
              <a:t>Scalable trans-barrier delivery platform for </a:t>
            </a:r>
            <a:r>
              <a:rPr lang="en-US" sz="1500">
                <a:solidFill>
                  <a:srgbClr val="475569"/>
                </a:solidFill>
                <a:latin typeface="Lato" panose="020F0502020204030203"/>
                <a:ea typeface="Lato" panose="020F0502020204030203"/>
                <a:cs typeface="Lato" panose="020F0502020204030203"/>
                <a:sym typeface="Lato" panose="020F0502020204030203"/>
              </a:rPr>
              <a:t>pharmaceuticals</a:t>
            </a:r>
            <a:r>
              <a:rPr lang="en-US" sz="1500">
                <a:solidFill>
                  <a:srgbClr val="475569"/>
                </a:solidFill>
                <a:latin typeface="Lato" panose="020F0502020204030203"/>
                <a:ea typeface="Lato" panose="020F0502020204030203"/>
                <a:cs typeface="Lato" panose="020F0502020204030203"/>
                <a:sym typeface="Lato" panose="020F0502020204030203"/>
              </a:rPr>
              <a:t>, consumer healthcare and </a:t>
            </a:r>
            <a:r>
              <a:rPr lang="en-US" sz="1500">
                <a:solidFill>
                  <a:srgbClr val="475569"/>
                </a:solidFill>
                <a:latin typeface="Lato" panose="020F0502020204030203"/>
                <a:ea typeface="Lato" panose="020F0502020204030203"/>
                <a:cs typeface="Lato" panose="020F0502020204030203"/>
                <a:sym typeface="Lato" panose="020F0502020204030203"/>
              </a:rPr>
              <a:t>cosmeceuticals</a:t>
            </a:r>
            <a:r>
              <a:rPr lang="en-US" sz="1500">
                <a:solidFill>
                  <a:srgbClr val="475569"/>
                </a:solidFill>
                <a:latin typeface="Lato" panose="020F0502020204030203"/>
                <a:ea typeface="Lato" panose="020F0502020204030203"/>
                <a:cs typeface="Lato" panose="020F0502020204030203"/>
                <a:sym typeface="Lato" panose="020F0502020204030203"/>
              </a:rPr>
              <a:t>. </a:t>
            </a:r>
            <a:endParaRPr lang="en-US" sz="1500">
              <a:solidFill>
                <a:srgbClr val="475569"/>
              </a:solidFill>
              <a:latin typeface="Lato" panose="020F0502020204030203"/>
              <a:ea typeface="Lato" panose="020F0502020204030203"/>
              <a:cs typeface="Lato" panose="020F0502020204030203"/>
              <a:sym typeface="Lato" panose="020F0502020204030203"/>
            </a:endParaRPr>
          </a:p>
        </p:txBody>
      </p:sp>
      <p:sp>
        <p:nvSpPr>
          <p:cNvPr id="260" name="Google Shape;260;p22"/>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A Platform for Global Health</a:t>
            </a:r>
            <a:endPar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261" name="Google Shape;261;p22"/>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62" name="Google Shape;262;p22" title="letter head.png"/>
          <p:cNvPicPr preferRelativeResize="0"/>
          <p:nvPr/>
        </p:nvPicPr>
        <p:blipFill>
          <a:blip r:embed="rId20"/>
          <a:stretch>
            <a:fillRect/>
          </a:stretch>
        </p:blipFill>
        <p:spPr>
          <a:xfrm>
            <a:off x="9845325" y="0"/>
            <a:ext cx="2346676" cy="408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66" name="Shape 266"/>
        <p:cNvGrpSpPr/>
        <p:nvPr/>
      </p:nvGrpSpPr>
      <p:grpSpPr>
        <a:xfrm>
          <a:off x="0" y="0"/>
          <a:ext cx="0" cy="0"/>
          <a:chOff x="0" y="0"/>
          <a:chExt cx="0" cy="0"/>
        </a:xfrm>
      </p:grpSpPr>
      <p:pic>
        <p:nvPicPr>
          <p:cNvPr id="267" name="Google Shape;267;p2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68" name="Google Shape;268;p23" descr="image.png"/>
          <p:cNvPicPr preferRelativeResize="0"/>
          <p:nvPr/>
        </p:nvPicPr>
        <p:blipFill rotWithShape="1">
          <a:blip r:embed="rId2"/>
          <a:srcRect/>
          <a:stretch>
            <a:fillRect/>
          </a:stretch>
        </p:blipFill>
        <p:spPr>
          <a:xfrm>
            <a:off x="571500" y="2034629"/>
            <a:ext cx="3492400" cy="3769816"/>
          </a:xfrm>
          <a:prstGeom prst="rect">
            <a:avLst/>
          </a:prstGeom>
          <a:noFill/>
          <a:ln>
            <a:noFill/>
          </a:ln>
        </p:spPr>
      </p:pic>
      <p:pic>
        <p:nvPicPr>
          <p:cNvPr id="269" name="Google Shape;269;p23" descr="image.png"/>
          <p:cNvPicPr preferRelativeResize="0"/>
          <p:nvPr/>
        </p:nvPicPr>
        <p:blipFill rotWithShape="1">
          <a:blip r:embed="rId3"/>
          <a:srcRect/>
          <a:stretch>
            <a:fillRect/>
          </a:stretch>
        </p:blipFill>
        <p:spPr>
          <a:xfrm>
            <a:off x="4349650" y="2034629"/>
            <a:ext cx="3492549" cy="3769816"/>
          </a:xfrm>
          <a:prstGeom prst="rect">
            <a:avLst/>
          </a:prstGeom>
          <a:noFill/>
          <a:ln>
            <a:noFill/>
          </a:ln>
        </p:spPr>
      </p:pic>
      <p:pic>
        <p:nvPicPr>
          <p:cNvPr id="270" name="Google Shape;270;p23" descr="image.png"/>
          <p:cNvPicPr preferRelativeResize="0"/>
          <p:nvPr/>
        </p:nvPicPr>
        <p:blipFill rotWithShape="1">
          <a:blip r:embed="rId4"/>
          <a:srcRect/>
          <a:stretch>
            <a:fillRect/>
          </a:stretch>
        </p:blipFill>
        <p:spPr>
          <a:xfrm>
            <a:off x="8127950" y="2034629"/>
            <a:ext cx="3492400" cy="3769816"/>
          </a:xfrm>
          <a:prstGeom prst="rect">
            <a:avLst/>
          </a:prstGeom>
          <a:noFill/>
          <a:ln>
            <a:noFill/>
          </a:ln>
        </p:spPr>
      </p:pic>
      <p:pic>
        <p:nvPicPr>
          <p:cNvPr id="271" name="Google Shape;271;p23" descr="image.png"/>
          <p:cNvPicPr preferRelativeResize="0"/>
          <p:nvPr/>
        </p:nvPicPr>
        <p:blipFill rotWithShape="1">
          <a:blip r:embed="rId5"/>
          <a:srcRect/>
          <a:stretch>
            <a:fillRect/>
          </a:stretch>
        </p:blipFill>
        <p:spPr>
          <a:xfrm>
            <a:off x="1460450" y="2329904"/>
            <a:ext cx="1714500" cy="1714500"/>
          </a:xfrm>
          <a:prstGeom prst="rect">
            <a:avLst/>
          </a:prstGeom>
          <a:noFill/>
          <a:ln>
            <a:noFill/>
          </a:ln>
        </p:spPr>
      </p:pic>
      <p:pic>
        <p:nvPicPr>
          <p:cNvPr id="272" name="Google Shape;272;p23" descr="image.png"/>
          <p:cNvPicPr preferRelativeResize="0"/>
          <p:nvPr/>
        </p:nvPicPr>
        <p:blipFill rotWithShape="1">
          <a:blip r:embed="rId6"/>
          <a:srcRect/>
          <a:stretch>
            <a:fillRect/>
          </a:stretch>
        </p:blipFill>
        <p:spPr>
          <a:xfrm>
            <a:off x="5238601" y="2329904"/>
            <a:ext cx="1714500" cy="1714500"/>
          </a:xfrm>
          <a:prstGeom prst="rect">
            <a:avLst/>
          </a:prstGeom>
          <a:noFill/>
          <a:ln>
            <a:noFill/>
          </a:ln>
        </p:spPr>
      </p:pic>
      <p:pic>
        <p:nvPicPr>
          <p:cNvPr id="273" name="Google Shape;273;p23" descr="image.png"/>
          <p:cNvPicPr preferRelativeResize="0"/>
          <p:nvPr/>
        </p:nvPicPr>
        <p:blipFill rotWithShape="1">
          <a:blip r:embed="rId7"/>
          <a:srcRect/>
          <a:stretch>
            <a:fillRect/>
          </a:stretch>
        </p:blipFill>
        <p:spPr>
          <a:xfrm>
            <a:off x="9016900" y="2329904"/>
            <a:ext cx="1714500" cy="1714500"/>
          </a:xfrm>
          <a:prstGeom prst="rect">
            <a:avLst/>
          </a:prstGeom>
          <a:noFill/>
          <a:ln>
            <a:noFill/>
          </a:ln>
        </p:spPr>
      </p:pic>
      <p:sp>
        <p:nvSpPr>
          <p:cNvPr id="274" name="Google Shape;274;p23"/>
          <p:cNvSpPr txBox="1"/>
          <p:nvPr/>
        </p:nvSpPr>
        <p:spPr>
          <a:xfrm>
            <a:off x="794228" y="4234904"/>
            <a:ext cx="30468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a:solidFill>
                  <a:srgbClr val="002147"/>
                </a:solidFill>
                <a:latin typeface="Poppins" panose="00000500000000000000"/>
                <a:ea typeface="Poppins" panose="00000500000000000000"/>
                <a:cs typeface="Poppins" panose="00000500000000000000"/>
                <a:sym typeface="Poppins" panose="00000500000000000000"/>
              </a:rPr>
              <a:t>Di Y</a:t>
            </a:r>
            <a:r>
              <a:rPr lang="en-US" sz="1800" b="1" i="0" u="none" strike="noStrike" cap="none">
                <a:solidFill>
                  <a:srgbClr val="002147"/>
                </a:solidFill>
                <a:latin typeface="Poppins" panose="00000500000000000000"/>
                <a:ea typeface="Poppins" panose="00000500000000000000"/>
                <a:cs typeface="Poppins" panose="00000500000000000000"/>
                <a:sym typeface="Poppins" panose="00000500000000000000"/>
              </a:rPr>
              <a:t>ang</a:t>
            </a:r>
            <a:r>
              <a:rPr lang="en-US" sz="1800" b="1">
                <a:solidFill>
                  <a:srgbClr val="002147"/>
                </a:solidFill>
                <a:latin typeface="Poppins" panose="00000500000000000000"/>
                <a:ea typeface="Poppins" panose="00000500000000000000"/>
                <a:cs typeface="Poppins" panose="00000500000000000000"/>
                <a:sym typeface="Poppins" panose="00000500000000000000"/>
              </a:rPr>
              <a:t>, PhD</a:t>
            </a:r>
            <a:endParaRPr lang="en-US" sz="1800" b="1">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275" name="Google Shape;275;p23"/>
          <p:cNvSpPr txBox="1"/>
          <p:nvPr/>
        </p:nvSpPr>
        <p:spPr>
          <a:xfrm>
            <a:off x="866775" y="4615904"/>
            <a:ext cx="2901850" cy="16129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00A3AD"/>
                </a:solidFill>
                <a:latin typeface="Lato" panose="020F0502020204030203"/>
                <a:ea typeface="Lato" panose="020F0502020204030203"/>
                <a:cs typeface="Lato" panose="020F0502020204030203"/>
                <a:sym typeface="Lato" panose="020F0502020204030203"/>
              </a:rPr>
              <a:t>CEO &amp; CO-FOUNDER</a:t>
            </a:r>
            <a:endParaRPr lang="en-US" sz="1050" b="1" i="0" u="none" strike="noStrike" cap="none">
              <a:solidFill>
                <a:srgbClr val="00A3AD"/>
              </a:solidFill>
              <a:latin typeface="Lato" panose="020F0502020204030203"/>
              <a:ea typeface="Lato" panose="020F0502020204030203"/>
              <a:cs typeface="Lato" panose="020F0502020204030203"/>
              <a:sym typeface="Lato" panose="020F0502020204030203"/>
            </a:endParaRPr>
          </a:p>
        </p:txBody>
      </p:sp>
      <p:sp>
        <p:nvSpPr>
          <p:cNvPr id="276" name="Google Shape;276;p23"/>
          <p:cNvSpPr txBox="1"/>
          <p:nvPr/>
        </p:nvSpPr>
        <p:spPr>
          <a:xfrm>
            <a:off x="866775" y="4930229"/>
            <a:ext cx="2901850" cy="51625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MIT PhD; ex-ExxonMobil R&amp;D Lead. </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a:p>
            <a:pPr marL="0" marR="0" lvl="0" indent="0" algn="ctr" rtl="0">
              <a:lnSpc>
                <a:spcPct val="140000"/>
              </a:lnSpc>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Serial Entrepreneur</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77" name="Google Shape;277;p23"/>
          <p:cNvSpPr txBox="1"/>
          <p:nvPr/>
        </p:nvSpPr>
        <p:spPr>
          <a:xfrm>
            <a:off x="4572375" y="4234904"/>
            <a:ext cx="3047099"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2147"/>
                </a:solidFill>
                <a:latin typeface="Poppins" panose="00000500000000000000"/>
                <a:ea typeface="Poppins" panose="00000500000000000000"/>
                <a:cs typeface="Poppins" panose="00000500000000000000"/>
                <a:sym typeface="Poppins" panose="00000500000000000000"/>
              </a:rPr>
              <a:t>Prof. Rong Yang, PhD</a:t>
            </a:r>
            <a:endParaRPr lang="en-US" sz="1800"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278" name="Google Shape;278;p23"/>
          <p:cNvSpPr txBox="1"/>
          <p:nvPr/>
        </p:nvSpPr>
        <p:spPr>
          <a:xfrm>
            <a:off x="4644925" y="4615904"/>
            <a:ext cx="2901999" cy="16129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00A3AD"/>
                </a:solidFill>
                <a:latin typeface="Lato" panose="020F0502020204030203"/>
                <a:ea typeface="Lato" panose="020F0502020204030203"/>
                <a:cs typeface="Lato" panose="020F0502020204030203"/>
                <a:sym typeface="Lato" panose="020F0502020204030203"/>
              </a:rPr>
              <a:t>CSO &amp; CO-FOUNDER</a:t>
            </a:r>
            <a:endParaRPr lang="en-US" sz="1050" b="1" i="0" u="none" strike="noStrike" cap="none">
              <a:solidFill>
                <a:srgbClr val="00A3AD"/>
              </a:solidFill>
              <a:latin typeface="Lato" panose="020F0502020204030203"/>
              <a:ea typeface="Lato" panose="020F0502020204030203"/>
              <a:cs typeface="Lato" panose="020F0502020204030203"/>
              <a:sym typeface="Lato" panose="020F0502020204030203"/>
            </a:endParaRPr>
          </a:p>
        </p:txBody>
      </p:sp>
      <p:sp>
        <p:nvSpPr>
          <p:cNvPr id="279" name="Google Shape;279;p23"/>
          <p:cNvSpPr txBox="1"/>
          <p:nvPr/>
        </p:nvSpPr>
        <p:spPr>
          <a:xfrm>
            <a:off x="4644925" y="4930229"/>
            <a:ext cx="2901999" cy="42654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Tenured Professor at Cornell University. Global authority in biomaterial engineering.</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80" name="Google Shape;280;p23"/>
          <p:cNvSpPr txBox="1"/>
          <p:nvPr/>
        </p:nvSpPr>
        <p:spPr>
          <a:xfrm>
            <a:off x="8350679" y="4234904"/>
            <a:ext cx="30468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2147"/>
                </a:solidFill>
                <a:latin typeface="Poppins" panose="00000500000000000000"/>
                <a:ea typeface="Poppins" panose="00000500000000000000"/>
                <a:cs typeface="Poppins" panose="00000500000000000000"/>
                <a:sym typeface="Poppins" panose="00000500000000000000"/>
              </a:rPr>
              <a:t>Wenjing </a:t>
            </a:r>
            <a:r>
              <a:rPr lang="en-US" sz="1800" b="1">
                <a:solidFill>
                  <a:srgbClr val="002147"/>
                </a:solidFill>
                <a:latin typeface="Poppins" panose="00000500000000000000"/>
                <a:ea typeface="Poppins" panose="00000500000000000000"/>
                <a:cs typeface="Poppins" panose="00000500000000000000"/>
                <a:sym typeface="Poppins" panose="00000500000000000000"/>
              </a:rPr>
              <a:t>Tan</a:t>
            </a:r>
            <a:r>
              <a:rPr lang="en-US" sz="1800" b="1" i="0" u="none" strike="noStrike" cap="none">
                <a:solidFill>
                  <a:srgbClr val="002147"/>
                </a:solidFill>
                <a:latin typeface="Poppins" panose="00000500000000000000"/>
                <a:ea typeface="Poppins" panose="00000500000000000000"/>
                <a:cs typeface="Poppins" panose="00000500000000000000"/>
                <a:sym typeface="Poppins" panose="00000500000000000000"/>
              </a:rPr>
              <a:t>g, PhD</a:t>
            </a:r>
            <a:endParaRPr lang="en-US" sz="1800" b="1" i="0" u="none" strike="noStrike" cap="none">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281" name="Google Shape;281;p23"/>
          <p:cNvSpPr txBox="1"/>
          <p:nvPr/>
        </p:nvSpPr>
        <p:spPr>
          <a:xfrm>
            <a:off x="8423225" y="4615904"/>
            <a:ext cx="2901850"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00A3AD"/>
                </a:solidFill>
                <a:latin typeface="Lato" panose="020F0502020204030203"/>
                <a:ea typeface="Lato" panose="020F0502020204030203"/>
                <a:cs typeface="Lato" panose="020F0502020204030203"/>
                <a:sym typeface="Lato" panose="020F0502020204030203"/>
              </a:rPr>
              <a:t>CHIEF TECH OFFICER</a:t>
            </a:r>
            <a:endParaRPr lang="en-US" sz="1050" b="1" i="0" u="none" strike="noStrike" cap="none">
              <a:solidFill>
                <a:srgbClr val="00A3AD"/>
              </a:solidFill>
              <a:latin typeface="Lato" panose="020F0502020204030203"/>
              <a:ea typeface="Lato" panose="020F0502020204030203"/>
              <a:cs typeface="Lato" panose="020F0502020204030203"/>
              <a:sym typeface="Lato" panose="020F0502020204030203"/>
            </a:endParaRPr>
          </a:p>
        </p:txBody>
      </p:sp>
      <p:sp>
        <p:nvSpPr>
          <p:cNvPr id="282" name="Google Shape;282;p23"/>
          <p:cNvSpPr txBox="1"/>
          <p:nvPr/>
        </p:nvSpPr>
        <p:spPr>
          <a:xfrm>
            <a:off x="8423225" y="4930229"/>
            <a:ext cx="2901850" cy="42654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Lead discovery scientist and expert in drug delivery mechanisms and formulation.</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283" name="Google Shape;283;p23" title="kappframework-lnVSFF(1)(1).png"/>
          <p:cNvPicPr preferRelativeResize="0"/>
          <p:nvPr/>
        </p:nvPicPr>
        <p:blipFill rotWithShape="1">
          <a:blip r:embed="rId8"/>
          <a:srcRect l="4906" t="5240" r="4897" b="-5239"/>
          <a:stretch>
            <a:fillRect/>
          </a:stretch>
        </p:blipFill>
        <p:spPr>
          <a:xfrm>
            <a:off x="1498550" y="2372809"/>
            <a:ext cx="1638300" cy="1638300"/>
          </a:xfrm>
          <a:prstGeom prst="ellipse">
            <a:avLst/>
          </a:prstGeom>
          <a:noFill/>
          <a:ln>
            <a:noFill/>
          </a:ln>
        </p:spPr>
      </p:pic>
      <p:sp>
        <p:nvSpPr>
          <p:cNvPr id="284" name="Google Shape;284;p23"/>
          <p:cNvSpPr txBox="1"/>
          <p:nvPr/>
        </p:nvSpPr>
        <p:spPr>
          <a:xfrm>
            <a:off x="762000" y="571500"/>
            <a:ext cx="114015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147"/>
                </a:solidFill>
                <a:latin typeface="Poppins" panose="00000500000000000000"/>
                <a:ea typeface="Poppins" panose="00000500000000000000"/>
                <a:cs typeface="Poppins" panose="00000500000000000000"/>
                <a:sym typeface="Poppins" panose="00000500000000000000"/>
              </a:rPr>
              <a:t>The </a:t>
            </a:r>
            <a:r>
              <a:rPr lang="en-US" sz="3150" b="1">
                <a:solidFill>
                  <a:srgbClr val="002147"/>
                </a:solidFill>
                <a:latin typeface="Poppins" panose="00000500000000000000"/>
                <a:ea typeface="Poppins" panose="00000500000000000000"/>
                <a:cs typeface="Poppins" panose="00000500000000000000"/>
                <a:sym typeface="Poppins" panose="00000500000000000000"/>
              </a:rPr>
              <a:t>Core Team</a:t>
            </a:r>
            <a:endParaRPr lang="en-US" sz="3150" b="1">
              <a:solidFill>
                <a:srgbClr val="002147"/>
              </a:solidFill>
              <a:latin typeface="Poppins" panose="00000500000000000000"/>
              <a:ea typeface="Poppins" panose="00000500000000000000"/>
              <a:cs typeface="Poppins" panose="00000500000000000000"/>
              <a:sym typeface="Poppins" panose="00000500000000000000"/>
            </a:endParaRPr>
          </a:p>
        </p:txBody>
      </p:sp>
      <p:sp>
        <p:nvSpPr>
          <p:cNvPr id="285" name="Google Shape;285;p23"/>
          <p:cNvSpPr/>
          <p:nvPr/>
        </p:nvSpPr>
        <p:spPr>
          <a:xfrm>
            <a:off x="571500" y="571500"/>
            <a:ext cx="76200" cy="600075"/>
          </a:xfrm>
          <a:prstGeom prst="rect">
            <a:avLst/>
          </a:prstGeom>
          <a:solidFill>
            <a:srgbClr val="00A3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86" name="Google Shape;286;p23"/>
          <p:cNvPicPr preferRelativeResize="0"/>
          <p:nvPr/>
        </p:nvPicPr>
        <p:blipFill>
          <a:blip r:embed="rId9"/>
          <a:stretch>
            <a:fillRect/>
          </a:stretch>
        </p:blipFill>
        <p:spPr>
          <a:xfrm>
            <a:off x="5327944" y="2397700"/>
            <a:ext cx="1553100" cy="1578900"/>
          </a:xfrm>
          <a:prstGeom prst="ellipse">
            <a:avLst/>
          </a:prstGeom>
          <a:noFill/>
          <a:ln>
            <a:noFill/>
          </a:ln>
        </p:spPr>
      </p:pic>
      <p:pic>
        <p:nvPicPr>
          <p:cNvPr id="287" name="Google Shape;287;p23" title="letter head.png"/>
          <p:cNvPicPr preferRelativeResize="0"/>
          <p:nvPr/>
        </p:nvPicPr>
        <p:blipFill>
          <a:blip r:embed="rId10"/>
          <a:stretch>
            <a:fillRect/>
          </a:stretch>
        </p:blipFill>
        <p:spPr>
          <a:xfrm>
            <a:off x="9845325" y="0"/>
            <a:ext cx="2346676" cy="408925"/>
          </a:xfrm>
          <a:prstGeom prst="rect">
            <a:avLst/>
          </a:prstGeom>
          <a:noFill/>
          <a:ln>
            <a:noFill/>
          </a:ln>
        </p:spPr>
      </p:pic>
      <p:pic>
        <p:nvPicPr>
          <p:cNvPr id="2" name="图片 1" descr="image"/>
          <p:cNvPicPr>
            <a:picLocks noChangeAspect="1"/>
          </p:cNvPicPr>
          <p:nvPr/>
        </p:nvPicPr>
        <p:blipFill>
          <a:blip r:embed="rId11"/>
          <a:stretch>
            <a:fillRect/>
          </a:stretch>
        </p:blipFill>
        <p:spPr>
          <a:xfrm>
            <a:off x="9071610" y="2397760"/>
            <a:ext cx="1613535" cy="1613535"/>
          </a:xfrm>
          <a:prstGeom prst="ellipse">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91" name="Shape 291"/>
        <p:cNvGrpSpPr/>
        <p:nvPr/>
      </p:nvGrpSpPr>
      <p:grpSpPr>
        <a:xfrm>
          <a:off x="0" y="0"/>
          <a:ext cx="0" cy="0"/>
          <a:chOff x="0" y="0"/>
          <a:chExt cx="0" cy="0"/>
        </a:xfrm>
      </p:grpSpPr>
      <p:pic>
        <p:nvPicPr>
          <p:cNvPr id="292" name="Google Shape;292;p24" descr="image.png"/>
          <p:cNvPicPr preferRelativeResize="0"/>
          <p:nvPr/>
        </p:nvPicPr>
        <p:blipFill rotWithShape="1">
          <a:blip r:embed="rId1"/>
          <a:srcRect/>
          <a:stretch>
            <a:fillRect/>
          </a:stretch>
        </p:blipFill>
        <p:spPr>
          <a:xfrm>
            <a:off x="571500" y="571500"/>
            <a:ext cx="11049000" cy="5715000"/>
          </a:xfrm>
          <a:prstGeom prst="rect">
            <a:avLst/>
          </a:prstGeom>
          <a:noFill/>
          <a:ln>
            <a:noFill/>
          </a:ln>
        </p:spPr>
      </p:pic>
      <p:sp>
        <p:nvSpPr>
          <p:cNvPr id="293" name="Google Shape;293;p24"/>
          <p:cNvSpPr txBox="1"/>
          <p:nvPr/>
        </p:nvSpPr>
        <p:spPr>
          <a:xfrm>
            <a:off x="3300450" y="2700350"/>
            <a:ext cx="6098400" cy="45148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b="0" i="0" u="none" strike="noStrike" cap="none">
                <a:solidFill>
                  <a:schemeClr val="lt1"/>
                </a:solidFill>
                <a:latin typeface="Lato" panose="020F0502020204030203"/>
                <a:ea typeface="Lato" panose="020F0502020204030203"/>
                <a:cs typeface="Lato" panose="020F0502020204030203"/>
                <a:sym typeface="Lato" panose="020F0502020204030203"/>
              </a:rPr>
              <a:t>Join us in revolutionizing </a:t>
            </a:r>
            <a:r>
              <a:rPr lang="en-US" sz="2100">
                <a:solidFill>
                  <a:schemeClr val="lt1"/>
                </a:solidFill>
                <a:latin typeface="Lato" panose="020F0502020204030203"/>
                <a:ea typeface="Lato" panose="020F0502020204030203"/>
                <a:cs typeface="Lato" panose="020F0502020204030203"/>
                <a:sym typeface="Lato" panose="020F0502020204030203"/>
              </a:rPr>
              <a:t>trans-b</a:t>
            </a:r>
            <a:r>
              <a:rPr lang="en-US" sz="2100">
                <a:solidFill>
                  <a:schemeClr val="lt1"/>
                </a:solidFill>
                <a:latin typeface="Lato" panose="020F0502020204030203"/>
                <a:ea typeface="Lato" panose="020F0502020204030203"/>
                <a:cs typeface="Lato" panose="020F0502020204030203"/>
                <a:sym typeface="Lato" panose="020F0502020204030203"/>
              </a:rPr>
              <a:t>arrier drug delivery</a:t>
            </a:r>
            <a:r>
              <a:rPr lang="en-US" sz="2100" b="0" i="0" u="none" strike="noStrike" cap="none">
                <a:solidFill>
                  <a:schemeClr val="lt1"/>
                </a:solidFill>
                <a:latin typeface="Lato" panose="020F0502020204030203"/>
                <a:ea typeface="Lato" panose="020F0502020204030203"/>
                <a:cs typeface="Lato" panose="020F0502020204030203"/>
                <a:sym typeface="Lato" panose="020F0502020204030203"/>
              </a:rPr>
              <a:t>.</a:t>
            </a:r>
            <a:endParaRPr>
              <a:solidFill>
                <a:schemeClr val="lt1"/>
              </a:solidFill>
            </a:endParaRPr>
          </a:p>
        </p:txBody>
      </p:sp>
      <p:sp>
        <p:nvSpPr>
          <p:cNvPr id="294" name="Google Shape;294;p24"/>
          <p:cNvSpPr txBox="1"/>
          <p:nvPr/>
        </p:nvSpPr>
        <p:spPr>
          <a:xfrm>
            <a:off x="4243387" y="4110930"/>
            <a:ext cx="37053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1" i="0" u="none" strike="noStrike" cap="none">
                <a:solidFill>
                  <a:schemeClr val="lt1"/>
                </a:solidFill>
                <a:latin typeface="Lato" panose="020F0502020204030203"/>
                <a:ea typeface="Lato" panose="020F0502020204030203"/>
                <a:cs typeface="Lato" panose="020F0502020204030203"/>
                <a:sym typeface="Lato" panose="020F0502020204030203"/>
              </a:rPr>
              <a:t>Dr. </a:t>
            </a:r>
            <a:r>
              <a:rPr lang="en-US" sz="1500" b="1">
                <a:solidFill>
                  <a:schemeClr val="lt1"/>
                </a:solidFill>
                <a:latin typeface="Lato" panose="020F0502020204030203"/>
                <a:ea typeface="Lato" panose="020F0502020204030203"/>
                <a:cs typeface="Lato" panose="020F0502020204030203"/>
                <a:sym typeface="Lato" panose="020F0502020204030203"/>
              </a:rPr>
              <a:t>Y</a:t>
            </a:r>
            <a:r>
              <a:rPr lang="en-US" sz="1500" b="1" i="0" u="none" strike="noStrike" cap="none">
                <a:solidFill>
                  <a:schemeClr val="lt1"/>
                </a:solidFill>
                <a:latin typeface="Lato" panose="020F0502020204030203"/>
                <a:ea typeface="Lato" panose="020F0502020204030203"/>
                <a:cs typeface="Lato" panose="020F0502020204030203"/>
                <a:sym typeface="Lato" panose="020F0502020204030203"/>
              </a:rPr>
              <a:t>ang, PhD</a:t>
            </a:r>
            <a:r>
              <a:rPr lang="en-US" sz="1500" b="0" i="0" u="none" strike="noStrike" cap="none">
                <a:solidFill>
                  <a:schemeClr val="lt1"/>
                </a:solidFill>
                <a:latin typeface="Lato" panose="020F0502020204030203"/>
                <a:ea typeface="Lato" panose="020F0502020204030203"/>
                <a:cs typeface="Lato" panose="020F0502020204030203"/>
                <a:sym typeface="Lato" panose="020F0502020204030203"/>
              </a:rPr>
              <a:t> | CEO</a:t>
            </a:r>
            <a:endParaRPr>
              <a:solidFill>
                <a:schemeClr val="lt1"/>
              </a:solidFill>
            </a:endParaRPr>
          </a:p>
        </p:txBody>
      </p:sp>
      <p:sp>
        <p:nvSpPr>
          <p:cNvPr id="295" name="Google Shape;295;p24"/>
          <p:cNvSpPr txBox="1"/>
          <p:nvPr/>
        </p:nvSpPr>
        <p:spPr>
          <a:xfrm>
            <a:off x="4862830" y="4568190"/>
            <a:ext cx="2466975" cy="64579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chemeClr val="lt1"/>
                </a:solidFill>
                <a:latin typeface="Lato" panose="020F0502020204030203"/>
                <a:ea typeface="Lato" panose="020F0502020204030203"/>
                <a:cs typeface="Lato" panose="020F0502020204030203"/>
                <a:sym typeface="Lato" panose="020F0502020204030203"/>
              </a:rPr>
              <a:t>Investment &amp; Inquiries: info@</a:t>
            </a:r>
            <a:r>
              <a:rPr lang="en-US" sz="1500">
                <a:solidFill>
                  <a:schemeClr val="lt1"/>
                </a:solidFill>
                <a:latin typeface="Lato" panose="020F0502020204030203"/>
                <a:ea typeface="Lato" panose="020F0502020204030203"/>
                <a:cs typeface="Lato" panose="020F0502020204030203"/>
                <a:sym typeface="Lato" panose="020F0502020204030203"/>
              </a:rPr>
              <a:t>oto-biotech</a:t>
            </a:r>
            <a:r>
              <a:rPr lang="en-US" sz="1500" b="0" i="0" u="none" strike="noStrike" cap="none">
                <a:solidFill>
                  <a:schemeClr val="lt1"/>
                </a:solidFill>
                <a:latin typeface="Lato" panose="020F0502020204030203"/>
                <a:ea typeface="Lato" panose="020F0502020204030203"/>
                <a:cs typeface="Lato" panose="020F0502020204030203"/>
                <a:sym typeface="Lato" panose="020F0502020204030203"/>
              </a:rPr>
              <a:t>.com</a:t>
            </a:r>
            <a:endParaRPr>
              <a:solidFill>
                <a:schemeClr val="lt1"/>
              </a:solidFill>
            </a:endParaRPr>
          </a:p>
        </p:txBody>
      </p:sp>
      <p:sp>
        <p:nvSpPr>
          <p:cNvPr id="297" name="Google Shape;297;p24"/>
          <p:cNvSpPr txBox="1"/>
          <p:nvPr/>
        </p:nvSpPr>
        <p:spPr>
          <a:xfrm>
            <a:off x="892675" y="1476650"/>
            <a:ext cx="10406700" cy="1223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6750" b="1">
                <a:solidFill>
                  <a:srgbClr val="FFFFFF"/>
                </a:solidFill>
                <a:latin typeface="Poppins" panose="00000500000000000000"/>
                <a:ea typeface="Poppins" panose="00000500000000000000"/>
                <a:cs typeface="Poppins" panose="00000500000000000000"/>
                <a:sym typeface="Poppins" panose="00000500000000000000"/>
              </a:rPr>
              <a:t>The Future is Local.</a:t>
            </a:r>
            <a:endParaRPr sz="6750" b="1">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tags/tag1.xml><?xml version="1.0" encoding="utf-8"?>
<p:tagLst xmlns:p="http://schemas.openxmlformats.org/presentationml/2006/main">
  <p:tag name="KSO_WM_DIAGRAM_VIRTUALLY_FRAME" val="{&quot;height&quot;:215.5326771653543,&quot;left&quot;:51,&quot;top&quot;:230.0748031496063,&quot;width&quot;:586.0783464566929}"/>
</p:tagLst>
</file>

<file path=ppt/tags/tag2.xml><?xml version="1.0" encoding="utf-8"?>
<p:tagLst xmlns:p="http://schemas.openxmlformats.org/presentationml/2006/main">
  <p:tag name="KSO_WM_DIAGRAM_VIRTUALLY_FRAME" val="{&quot;height&quot;:215.5326771653543,&quot;left&quot;:51,&quot;top&quot;:230.0748031496063,&quot;width&quot;:586.0783464566929}"/>
</p:tagLst>
</file>

<file path=ppt/tags/tag3.xml><?xml version="1.0" encoding="utf-8"?>
<p:tagLst xmlns:p="http://schemas.openxmlformats.org/presentationml/2006/main">
  <p:tag name="KSO_WM_DIAGRAM_VIRTUALLY_FRAME" val="{&quot;height&quot;:215.5326771653543,&quot;left&quot;:51,&quot;top&quot;:230.0748031496063,&quot;width&quot;:586.0783464566929}"/>
</p:tagLst>
</file>

<file path=ppt/tags/tag4.xml><?xml version="1.0" encoding="utf-8"?>
<p:tagLst xmlns:p="http://schemas.openxmlformats.org/presentationml/2006/main">
  <p:tag name="KSO_WM_DIAGRAM_VIRTUALLY_FRAME" val="{&quot;height&quot;:215.5326771653543,&quot;left&quot;:51,&quot;top&quot;:230.0748031496063,&quot;width&quot;:586.0783464566929}"/>
</p:tagLst>
</file>

<file path=ppt/tags/tag5.xml><?xml version="1.0" encoding="utf-8"?>
<p:tagLst xmlns:p="http://schemas.openxmlformats.org/presentationml/2006/main">
  <p:tag name="KSO_WM_DIAGRAM_VIRTUALLY_FRAME" val="{&quot;height&quot;:215.5326771653543,&quot;left&quot;:51,&quot;top&quot;:230.0748031496063,&quot;width&quot;:586.0783464566929}"/>
</p:tagLst>
</file>

<file path=ppt/tags/tag6.xml><?xml version="1.0" encoding="utf-8"?>
<p:tagLst xmlns:p="http://schemas.openxmlformats.org/presentationml/2006/main">
  <p:tag name="KSO_WM_DIAGRAM_VIRTUALLY_FRAME" val="{&quot;height&quot;:215.5326771653543,&quot;left&quot;:51,&quot;top&quot;:230.0748031496063,&quot;width&quot;:586.0783464566929}"/>
</p:tagLst>
</file>

<file path=ppt/tags/tag7.xml><?xml version="1.0" encoding="utf-8"?>
<p:tagLst xmlns:p="http://schemas.openxmlformats.org/presentationml/2006/main">
  <p:tag name="KSO_WM_DIAGRAM_VIRTUALLY_FRAME" val="{&quot;height&quot;:230.9,&quot;left&quot;:45.6,&quot;top&quot;:151.6,&quot;width&quot;:586.0783464566929}"/>
</p:tagLst>
</file>

<file path=ppt/tags/tag8.xml><?xml version="1.0" encoding="utf-8"?>
<p:tagLst xmlns:p="http://schemas.openxmlformats.org/presentationml/2006/main">
  <p:tag name="KSO_WM_DIAGRAM_VIRTUALLY_FRAME" val="{&quot;height&quot;:230.9,&quot;left&quot;:45.6,&quot;top&quot;:151.6,&quot;width&quot;:586.0783464566929}"/>
</p:tagLst>
</file>

<file path=ppt/tags/tag9.xml><?xml version="1.0" encoding="utf-8"?>
<p:tagLst xmlns:p="http://schemas.openxmlformats.org/presentationml/2006/main">
  <p:tag name="KSO_WM_DIAGRAM_VIRTUALLY_FRAME" val="{&quot;height&quot;:230.9,&quot;left&quot;:45.6,&quot;top&quot;:151.6,&quot;width&quot;:586.0783464566929}"/>
</p:tagLst>
</file>

<file path=ppt/tags/tag10.xml><?xml version="1.0" encoding="utf-8"?>
<p:tagLst xmlns:p="http://schemas.openxmlformats.org/presentationml/2006/main">
  <p:tag name="KSO_WM_DIAGRAM_VIRTUALLY_FRAME" val="{&quot;height&quot;:230.9,&quot;left&quot;:45.6,&quot;top&quot;:151.6,&quot;width&quot;:586.0783464566929}"/>
</p:tagLst>
</file>

<file path=ppt/tags/tag11.xml><?xml version="1.0" encoding="utf-8"?>
<p:tagLst xmlns:p="http://schemas.openxmlformats.org/presentationml/2006/main">
  <p:tag name="KSO_WM_DIAGRAM_VIRTUALLY_FRAME" val="{&quot;height&quot;:230.9,&quot;left&quot;:45.6,&quot;top&quot;:151.6,&quot;width&quot;:586.0783464566929}"/>
</p:tagLst>
</file>

<file path=ppt/tags/tag12.xml><?xml version="1.0" encoding="utf-8"?>
<p:tagLst xmlns:p="http://schemas.openxmlformats.org/presentationml/2006/main">
  <p:tag name="KSO_WM_DIAGRAM_VIRTUALLY_FRAME" val="{&quot;height&quot;:230.9,&quot;left&quot;:45.6,&quot;top&quot;:151.6,&quot;width&quot;:586.0783464566929}"/>
</p:tagLst>
</file>

<file path=ppt/tags/tag13.xml><?xml version="1.0" encoding="utf-8"?>
<p:tagLst xmlns:p="http://schemas.openxmlformats.org/presentationml/2006/main">
  <p:tag name="KSO_WM_DIAGRAM_VIRTUALLY_FRAME" val="{&quot;height&quot;:225.75,&quot;left&quot;:45,&quot;top&quot;:195.75,&quot;width&quot;:870.0116535433069}"/>
</p:tagLst>
</file>

<file path=ppt/tags/tag14.xml><?xml version="1.0" encoding="utf-8"?>
<p:tagLst xmlns:p="http://schemas.openxmlformats.org/presentationml/2006/main">
  <p:tag name="KSO_WM_DIAGRAM_VIRTUALLY_FRAME" val="{&quot;height&quot;:225.75,&quot;left&quot;:45,&quot;top&quot;:195.75,&quot;width&quot;:870.0116535433069}"/>
</p:tagLst>
</file>

<file path=ppt/tags/tag15.xml><?xml version="1.0" encoding="utf-8"?>
<p:tagLst xmlns:p="http://schemas.openxmlformats.org/presentationml/2006/main">
  <p:tag name="KSO_WM_DIAGRAM_VIRTUALLY_FRAME" val="{&quot;height&quot;:225.75,&quot;left&quot;:45,&quot;top&quot;:195.75,&quot;width&quot;:870.0116535433069}"/>
</p:tagLst>
</file>

<file path=ppt/tags/tag16.xml><?xml version="1.0" encoding="utf-8"?>
<p:tagLst xmlns:p="http://schemas.openxmlformats.org/presentationml/2006/main">
  <p:tag name="KSO_WM_DIAGRAM_VIRTUALLY_FRAME" val="{&quot;height&quot;:225.75,&quot;left&quot;:45,&quot;top&quot;:195.75,&quot;width&quot;:870.0116535433069}"/>
</p:tagLst>
</file>

<file path=ppt/tags/tag17.xml><?xml version="1.0" encoding="utf-8"?>
<p:tagLst xmlns:p="http://schemas.openxmlformats.org/presentationml/2006/main">
  <p:tag name="KSO_WM_DIAGRAM_VIRTUALLY_FRAME" val="{&quot;height&quot;:225.75,&quot;left&quot;:45,&quot;top&quot;:195.75,&quot;width&quot;:870.0116535433069}"/>
</p:tagLst>
</file>

<file path=ppt/tags/tag18.xml><?xml version="1.0" encoding="utf-8"?>
<p:tagLst xmlns:p="http://schemas.openxmlformats.org/presentationml/2006/main">
  <p:tag name="KSO_WM_DIAGRAM_VIRTUALLY_FRAME" val="{&quot;height&quot;:225.75,&quot;left&quot;:45,&quot;top&quot;:195.75,&quot;width&quot;:870.0116535433069}"/>
</p:tagLst>
</file>

<file path=ppt/tags/tag19.xml><?xml version="1.0" encoding="utf-8"?>
<p:tagLst xmlns:p="http://schemas.openxmlformats.org/presentationml/2006/main">
  <p:tag name="KSO_WM_DIAGRAM_VIRTUALLY_FRAME" val="{&quot;height&quot;:225.75,&quot;left&quot;:45,&quot;top&quot;:195.75,&quot;width&quot;:870.0116535433069}"/>
</p:tagLst>
</file>

<file path=ppt/tags/tag20.xml><?xml version="1.0" encoding="utf-8"?>
<p:tagLst xmlns:p="http://schemas.openxmlformats.org/presentationml/2006/main">
  <p:tag name="KSO_WM_DIAGRAM_VIRTUALLY_FRAME" val="{&quot;height&quot;:225.75,&quot;left&quot;:45,&quot;top&quot;:195.75,&quot;width&quot;:870.0116535433069}"/>
</p:tagLst>
</file>

<file path=ppt/tags/tag21.xml><?xml version="1.0" encoding="utf-8"?>
<p:tagLst xmlns:p="http://schemas.openxmlformats.org/presentationml/2006/main">
  <p:tag name="KSO_WM_DIAGRAM_VIRTUALLY_FRAME" val="{&quot;height&quot;:225.75,&quot;left&quot;:45,&quot;top&quot;:195.75,&quot;width&quot;:870.0116535433069}"/>
</p:tagLst>
</file>

<file path=ppt/tags/tag22.xml><?xml version="1.0" encoding="utf-8"?>
<p:tagLst xmlns:p="http://schemas.openxmlformats.org/presentationml/2006/main">
  <p:tag name="KSO_WM_DIAGRAM_VIRTUALLY_FRAME" val="{&quot;height&quot;:225.75,&quot;left&quot;:45,&quot;top&quot;:195.75,&quot;width&quot;:870.0116535433069}"/>
</p:tagLst>
</file>

<file path=ppt/tags/tag23.xml><?xml version="1.0" encoding="utf-8"?>
<p:tagLst xmlns:p="http://schemas.openxmlformats.org/presentationml/2006/main">
  <p:tag name="KSO_WM_DIAGRAM_VIRTUALLY_FRAME" val="{&quot;height&quot;:225.75,&quot;left&quot;:45,&quot;top&quot;:195.75,&quot;width&quot;:870.0116535433069}"/>
</p:tagLst>
</file>

<file path=ppt/tags/tag24.xml><?xml version="1.0" encoding="utf-8"?>
<p:tagLst xmlns:p="http://schemas.openxmlformats.org/presentationml/2006/main">
  <p:tag name="KSO_WM_DIAGRAM_VIRTUALLY_FRAME" val="{&quot;height&quot;:225.75,&quot;left&quot;:45,&quot;top&quot;:195.75,&quot;width&quot;:870.0116535433069}"/>
</p:tagLst>
</file>

<file path=ppt/tags/tag25.xml><?xml version="1.0" encoding="utf-8"?>
<p:tagLst xmlns:p="http://schemas.openxmlformats.org/presentationml/2006/main">
  <p:tag name="commondata" val="eyJoZGlkIjoiMzEwNTM5NzYwMDRjMzkwZTVkZjY2ODkwMGIxNGU0OTUifQ=="/>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4221</Words>
  <Application>WPS 演示</Application>
  <PresentationFormat/>
  <Paragraphs>214</Paragraphs>
  <Slides>14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宋体</vt:lpstr>
      <vt:lpstr>Wingdings</vt:lpstr>
      <vt:lpstr>Arial</vt:lpstr>
      <vt:lpstr>Calibri</vt:lpstr>
      <vt:lpstr>Poppins</vt:lpstr>
      <vt:lpstr>Times New Roman</vt:lpstr>
      <vt:lpstr>Lato</vt:lpstr>
      <vt:lpstr>Poppins SemiBold</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DiY⛽️</cp:lastModifiedBy>
  <cp:revision>6</cp:revision>
  <dcterms:created xsi:type="dcterms:W3CDTF">2025-12-20T10:55:00Z</dcterms:created>
  <dcterms:modified xsi:type="dcterms:W3CDTF">2026-03-06T03:54:34Z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5292F9DEF1004FC3A2DF8F539AF7885B_13</vt:lpwstr>
  </property>
  <property fmtid="{D5CDD505-2E9C-101B-9397-08002B2CF9AE}" pid="3" name="KSOProductBuildVer">
    <vt:lpwstr>2052-12.1.0.25225</vt:lpwstr>
  </property>
</Properties>
</file>